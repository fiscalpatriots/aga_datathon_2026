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7" r:id="rId5"/>
    <p:sldId id="270" r:id="rId6"/>
    <p:sldId id="260" r:id="rId7"/>
    <p:sldId id="262" r:id="rId8"/>
    <p:sldId id="261" r:id="rId9"/>
    <p:sldId id="263" r:id="rId10"/>
    <p:sldId id="264" r:id="rId11"/>
    <p:sldId id="268" r:id="rId12"/>
    <p:sldId id="269" r:id="rId13"/>
    <p:sldId id="271" r:id="rId14"/>
    <p:sldId id="266" r:id="rId15"/>
    <p:sldId id="272" r:id="rId16"/>
    <p:sldId id="273" r:id="rId17"/>
    <p:sldId id="267" r:id="rId18"/>
    <p:sldId id="25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B48C43-CB72-1E35-5062-83C73A6323B4}" name="david fitz" initials="df" userId="8ae8023cf44d7bf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DCCC5-4D19-1E21-99BC-E03D1EE4016E}" v="256" dt="2025-12-02T13:49:58.0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79"/>
  </p:normalViewPr>
  <p:slideViewPr>
    <p:cSldViewPr snapToGrid="0">
      <p:cViewPr varScale="1">
        <p:scale>
          <a:sx n="75" d="100"/>
          <a:sy n="75" d="100"/>
        </p:scale>
        <p:origin x="46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ifer Garrett" userId="S::jgarrett@agacgfm.org::177f8fe6-bd7d-43e9-be3e-e40592eb663a" providerId="AD" clId="Web-{4F8DCCC5-4D19-1E21-99BC-E03D1EE4016E}"/>
    <pc:docChg chg="delSld modSld">
      <pc:chgData name="Jennifer Garrett" userId="S::jgarrett@agacgfm.org::177f8fe6-bd7d-43e9-be3e-e40592eb663a" providerId="AD" clId="Web-{4F8DCCC5-4D19-1E21-99BC-E03D1EE4016E}" dt="2025-12-02T13:49:54.830" v="228"/>
      <pc:docMkLst>
        <pc:docMk/>
      </pc:docMkLst>
      <pc:sldChg chg="del">
        <pc:chgData name="Jennifer Garrett" userId="S::jgarrett@agacgfm.org::177f8fe6-bd7d-43e9-be3e-e40592eb663a" providerId="AD" clId="Web-{4F8DCCC5-4D19-1E21-99BC-E03D1EE4016E}" dt="2025-12-02T13:33:02.622" v="6"/>
        <pc:sldMkLst>
          <pc:docMk/>
          <pc:sldMk cId="3370271343" sldId="258"/>
        </pc:sldMkLst>
      </pc:sldChg>
      <pc:sldChg chg="modSp">
        <pc:chgData name="Jennifer Garrett" userId="S::jgarrett@agacgfm.org::177f8fe6-bd7d-43e9-be3e-e40592eb663a" providerId="AD" clId="Web-{4F8DCCC5-4D19-1E21-99BC-E03D1EE4016E}" dt="2025-12-02T13:33:08.872" v="7" actId="20577"/>
        <pc:sldMkLst>
          <pc:docMk/>
          <pc:sldMk cId="2338972518" sldId="260"/>
        </pc:sldMkLst>
        <pc:spChg chg="mod">
          <ac:chgData name="Jennifer Garrett" userId="S::jgarrett@agacgfm.org::177f8fe6-bd7d-43e9-be3e-e40592eb663a" providerId="AD" clId="Web-{4F8DCCC5-4D19-1E21-99BC-E03D1EE4016E}" dt="2025-12-02T13:33:08.872" v="7" actId="20577"/>
          <ac:spMkLst>
            <pc:docMk/>
            <pc:sldMk cId="2338972518" sldId="260"/>
            <ac:spMk id="4" creationId="{A3A98AE2-9379-C655-454F-968598EAED95}"/>
          </ac:spMkLst>
        </pc:spChg>
      </pc:sldChg>
      <pc:sldChg chg="modSp">
        <pc:chgData name="Jennifer Garrett" userId="S::jgarrett@agacgfm.org::177f8fe6-bd7d-43e9-be3e-e40592eb663a" providerId="AD" clId="Web-{4F8DCCC5-4D19-1E21-99BC-E03D1EE4016E}" dt="2025-12-02T13:36:06.139" v="54" actId="20577"/>
        <pc:sldMkLst>
          <pc:docMk/>
          <pc:sldMk cId="230699439" sldId="261"/>
        </pc:sldMkLst>
        <pc:spChg chg="mod">
          <ac:chgData name="Jennifer Garrett" userId="S::jgarrett@agacgfm.org::177f8fe6-bd7d-43e9-be3e-e40592eb663a" providerId="AD" clId="Web-{4F8DCCC5-4D19-1E21-99BC-E03D1EE4016E}" dt="2025-12-02T13:36:06.139" v="54" actId="20577"/>
          <ac:spMkLst>
            <pc:docMk/>
            <pc:sldMk cId="230699439" sldId="261"/>
            <ac:spMk id="6" creationId="{AE84117E-136A-0EF9-6002-E3D5A0AAEEEC}"/>
          </ac:spMkLst>
        </pc:spChg>
      </pc:sldChg>
      <pc:sldChg chg="modSp">
        <pc:chgData name="Jennifer Garrett" userId="S::jgarrett@agacgfm.org::177f8fe6-bd7d-43e9-be3e-e40592eb663a" providerId="AD" clId="Web-{4F8DCCC5-4D19-1E21-99BC-E03D1EE4016E}" dt="2025-12-02T13:35:57.951" v="49" actId="20577"/>
        <pc:sldMkLst>
          <pc:docMk/>
          <pc:sldMk cId="3420519307" sldId="262"/>
        </pc:sldMkLst>
        <pc:spChg chg="mod">
          <ac:chgData name="Jennifer Garrett" userId="S::jgarrett@agacgfm.org::177f8fe6-bd7d-43e9-be3e-e40592eb663a" providerId="AD" clId="Web-{4F8DCCC5-4D19-1E21-99BC-E03D1EE4016E}" dt="2025-12-02T13:35:57.951" v="49" actId="20577"/>
          <ac:spMkLst>
            <pc:docMk/>
            <pc:sldMk cId="3420519307" sldId="262"/>
            <ac:spMk id="4" creationId="{A3A98AE2-9379-C655-454F-968598EAED95}"/>
          </ac:spMkLst>
        </pc:spChg>
      </pc:sldChg>
      <pc:sldChg chg="addSp delSp modSp">
        <pc:chgData name="Jennifer Garrett" userId="S::jgarrett@agacgfm.org::177f8fe6-bd7d-43e9-be3e-e40592eb663a" providerId="AD" clId="Web-{4F8DCCC5-4D19-1E21-99BC-E03D1EE4016E}" dt="2025-12-02T13:49:54.830" v="228"/>
        <pc:sldMkLst>
          <pc:docMk/>
          <pc:sldMk cId="3833519793" sldId="263"/>
        </pc:sldMkLst>
        <pc:spChg chg="del">
          <ac:chgData name="Jennifer Garrett" userId="S::jgarrett@agacgfm.org::177f8fe6-bd7d-43e9-be3e-e40592eb663a" providerId="AD" clId="Web-{4F8DCCC5-4D19-1E21-99BC-E03D1EE4016E}" dt="2025-12-02T13:36:43.920" v="62"/>
          <ac:spMkLst>
            <pc:docMk/>
            <pc:sldMk cId="3833519793" sldId="263"/>
            <ac:spMk id="3" creationId="{62A7BB3E-21FD-59D6-73DB-1B105A232A5A}"/>
          </ac:spMkLst>
        </pc:spChg>
        <pc:spChg chg="add del mod">
          <ac:chgData name="Jennifer Garrett" userId="S::jgarrett@agacgfm.org::177f8fe6-bd7d-43e9-be3e-e40592eb663a" providerId="AD" clId="Web-{4F8DCCC5-4D19-1E21-99BC-E03D1EE4016E}" dt="2025-12-02T13:36:59.670" v="63"/>
          <ac:spMkLst>
            <pc:docMk/>
            <pc:sldMk cId="3833519793" sldId="263"/>
            <ac:spMk id="4" creationId="{A3A98AE2-9379-C655-454F-968598EAED95}"/>
          </ac:spMkLst>
        </pc:spChg>
        <pc:spChg chg="add del mod">
          <ac:chgData name="Jennifer Garrett" userId="S::jgarrett@agacgfm.org::177f8fe6-bd7d-43e9-be3e-e40592eb663a" providerId="AD" clId="Web-{4F8DCCC5-4D19-1E21-99BC-E03D1EE4016E}" dt="2025-12-02T13:36:21.858" v="58"/>
          <ac:spMkLst>
            <pc:docMk/>
            <pc:sldMk cId="3833519793" sldId="263"/>
            <ac:spMk id="7" creationId="{D8AB20D4-70A0-F732-B37C-0EC1249B93C8}"/>
          </ac:spMkLst>
        </pc:spChg>
        <pc:graphicFrameChg chg="add del mod ord modGraphic">
          <ac:chgData name="Jennifer Garrett" userId="S::jgarrett@agacgfm.org::177f8fe6-bd7d-43e9-be3e-e40592eb663a" providerId="AD" clId="Web-{4F8DCCC5-4D19-1E21-99BC-E03D1EE4016E}" dt="2025-12-02T13:36:41.748" v="61"/>
          <ac:graphicFrameMkLst>
            <pc:docMk/>
            <pc:sldMk cId="3833519793" sldId="263"/>
            <ac:graphicFrameMk id="9" creationId="{E89CD605-3EE1-04E1-A9B8-EE1F7580843B}"/>
          </ac:graphicFrameMkLst>
        </pc:graphicFrameChg>
        <pc:graphicFrameChg chg="add mod ord modGraphic">
          <ac:chgData name="Jennifer Garrett" userId="S::jgarrett@agacgfm.org::177f8fe6-bd7d-43e9-be3e-e40592eb663a" providerId="AD" clId="Web-{4F8DCCC5-4D19-1E21-99BC-E03D1EE4016E}" dt="2025-12-02T13:49:54.830" v="228"/>
          <ac:graphicFrameMkLst>
            <pc:docMk/>
            <pc:sldMk cId="3833519793" sldId="263"/>
            <ac:graphicFrameMk id="11" creationId="{546E6BA7-88BD-8334-D94D-B7E301B03289}"/>
          </ac:graphicFrameMkLst>
        </pc:graphicFrameChg>
      </pc:sldChg>
      <pc:sldChg chg="modSp">
        <pc:chgData name="Jennifer Garrett" userId="S::jgarrett@agacgfm.org::177f8fe6-bd7d-43e9-be3e-e40592eb663a" providerId="AD" clId="Web-{4F8DCCC5-4D19-1E21-99BC-E03D1EE4016E}" dt="2025-12-02T13:46:57.049" v="172" actId="20577"/>
        <pc:sldMkLst>
          <pc:docMk/>
          <pc:sldMk cId="2146020367" sldId="264"/>
        </pc:sldMkLst>
        <pc:spChg chg="mod">
          <ac:chgData name="Jennifer Garrett" userId="S::jgarrett@agacgfm.org::177f8fe6-bd7d-43e9-be3e-e40592eb663a" providerId="AD" clId="Web-{4F8DCCC5-4D19-1E21-99BC-E03D1EE4016E}" dt="2025-12-02T13:46:57.049" v="172" actId="20577"/>
          <ac:spMkLst>
            <pc:docMk/>
            <pc:sldMk cId="2146020367" sldId="264"/>
            <ac:spMk id="4" creationId="{A3A98AE2-9379-C655-454F-968598EAED95}"/>
          </ac:spMkLst>
        </pc:spChg>
        <pc:cxnChg chg="mod">
          <ac:chgData name="Jennifer Garrett" userId="S::jgarrett@agacgfm.org::177f8fe6-bd7d-43e9-be3e-e40592eb663a" providerId="AD" clId="Web-{4F8DCCC5-4D19-1E21-99BC-E03D1EE4016E}" dt="2025-12-02T13:46:17.408" v="166" actId="1076"/>
          <ac:cxnSpMkLst>
            <pc:docMk/>
            <pc:sldMk cId="2146020367" sldId="264"/>
            <ac:cxnSpMk id="5" creationId="{AD050AB2-D22C-3A31-327A-70CC682083A8}"/>
          </ac:cxnSpMkLst>
        </pc:cxnChg>
      </pc:sldChg>
      <pc:sldChg chg="modSp">
        <pc:chgData name="Jennifer Garrett" userId="S::jgarrett@agacgfm.org::177f8fe6-bd7d-43e9-be3e-e40592eb663a" providerId="AD" clId="Web-{4F8DCCC5-4D19-1E21-99BC-E03D1EE4016E}" dt="2025-12-02T13:49:17.236" v="222" actId="20577"/>
        <pc:sldMkLst>
          <pc:docMk/>
          <pc:sldMk cId="4122641782" sldId="267"/>
        </pc:sldMkLst>
        <pc:spChg chg="mod">
          <ac:chgData name="Jennifer Garrett" userId="S::jgarrett@agacgfm.org::177f8fe6-bd7d-43e9-be3e-e40592eb663a" providerId="AD" clId="Web-{4F8DCCC5-4D19-1E21-99BC-E03D1EE4016E}" dt="2025-12-02T13:49:17.236" v="222" actId="20577"/>
          <ac:spMkLst>
            <pc:docMk/>
            <pc:sldMk cId="4122641782" sldId="267"/>
            <ac:spMk id="4" creationId="{A3A98AE2-9379-C655-454F-968598EAED95}"/>
          </ac:spMkLst>
        </pc:spChg>
      </pc:sldChg>
      <pc:sldChg chg="modSp">
        <pc:chgData name="Jennifer Garrett" userId="S::jgarrett@agacgfm.org::177f8fe6-bd7d-43e9-be3e-e40592eb663a" providerId="AD" clId="Web-{4F8DCCC5-4D19-1E21-99BC-E03D1EE4016E}" dt="2025-12-02T13:48:08.893" v="184" actId="20577"/>
        <pc:sldMkLst>
          <pc:docMk/>
          <pc:sldMk cId="482705798" sldId="268"/>
        </pc:sldMkLst>
        <pc:spChg chg="mod">
          <ac:chgData name="Jennifer Garrett" userId="S::jgarrett@agacgfm.org::177f8fe6-bd7d-43e9-be3e-e40592eb663a" providerId="AD" clId="Web-{4F8DCCC5-4D19-1E21-99BC-E03D1EE4016E}" dt="2025-12-02T13:48:08.893" v="184" actId="20577"/>
          <ac:spMkLst>
            <pc:docMk/>
            <pc:sldMk cId="482705798" sldId="268"/>
            <ac:spMk id="4" creationId="{A3A98AE2-9379-C655-454F-968598EAED95}"/>
          </ac:spMkLst>
        </pc:spChg>
      </pc:sldChg>
      <pc:sldChg chg="modSp">
        <pc:chgData name="Jennifer Garrett" userId="S::jgarrett@agacgfm.org::177f8fe6-bd7d-43e9-be3e-e40592eb663a" providerId="AD" clId="Web-{4F8DCCC5-4D19-1E21-99BC-E03D1EE4016E}" dt="2025-12-02T13:48:39.299" v="201" actId="20577"/>
        <pc:sldMkLst>
          <pc:docMk/>
          <pc:sldMk cId="2033010815" sldId="269"/>
        </pc:sldMkLst>
        <pc:spChg chg="mod">
          <ac:chgData name="Jennifer Garrett" userId="S::jgarrett@agacgfm.org::177f8fe6-bd7d-43e9-be3e-e40592eb663a" providerId="AD" clId="Web-{4F8DCCC5-4D19-1E21-99BC-E03D1EE4016E}" dt="2025-12-02T13:48:14.768" v="185" actId="20577"/>
          <ac:spMkLst>
            <pc:docMk/>
            <pc:sldMk cId="2033010815" sldId="269"/>
            <ac:spMk id="2" creationId="{3E6BCACE-9486-EF5C-7F1F-EFEC86ADA1FA}"/>
          </ac:spMkLst>
        </pc:spChg>
        <pc:spChg chg="mod">
          <ac:chgData name="Jennifer Garrett" userId="S::jgarrett@agacgfm.org::177f8fe6-bd7d-43e9-be3e-e40592eb663a" providerId="AD" clId="Web-{4F8DCCC5-4D19-1E21-99BC-E03D1EE4016E}" dt="2025-12-02T13:48:39.299" v="201" actId="20577"/>
          <ac:spMkLst>
            <pc:docMk/>
            <pc:sldMk cId="2033010815" sldId="269"/>
            <ac:spMk id="4" creationId="{A3A98AE2-9379-C655-454F-968598EAED95}"/>
          </ac:spMkLst>
        </pc:spChg>
      </pc:sldChg>
      <pc:sldChg chg="modSp">
        <pc:chgData name="Jennifer Garrett" userId="S::jgarrett@agacgfm.org::177f8fe6-bd7d-43e9-be3e-e40592eb663a" providerId="AD" clId="Web-{4F8DCCC5-4D19-1E21-99BC-E03D1EE4016E}" dt="2025-12-02T13:32:54.357" v="5" actId="20577"/>
        <pc:sldMkLst>
          <pc:docMk/>
          <pc:sldMk cId="3654767104" sldId="270"/>
        </pc:sldMkLst>
        <pc:spChg chg="mod">
          <ac:chgData name="Jennifer Garrett" userId="S::jgarrett@agacgfm.org::177f8fe6-bd7d-43e9-be3e-e40592eb663a" providerId="AD" clId="Web-{4F8DCCC5-4D19-1E21-99BC-E03D1EE4016E}" dt="2025-12-02T13:32:54.357" v="5" actId="20577"/>
          <ac:spMkLst>
            <pc:docMk/>
            <pc:sldMk cId="3654767104" sldId="270"/>
            <ac:spMk id="2" creationId="{4B62FF40-46A9-C066-0D4B-1B77494EAD9F}"/>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ED7E-7FC7-873F-3698-B47D8B9BBFA6}"/>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CEA24C4E-F18B-7B01-39A2-DEF040FF051C}"/>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036632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833D-D51F-7F11-1999-4E666BA94F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C404B6-655D-CB04-E1F3-580C4005B2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9243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EC07E-CCAD-FA89-129E-7A75E749E9E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8884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2483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8846A2-EA56-2111-23DD-3295EE73CC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4074DB1-474D-893A-9CEE-0713DD70109F}"/>
              </a:ext>
            </a:extLst>
          </p:cNvPr>
          <p:cNvSpPr>
            <a:spLocks noGrp="1"/>
          </p:cNvSpPr>
          <p:nvPr>
            <p:ph type="body" idx="1"/>
          </p:nvPr>
        </p:nvSpPr>
        <p:spPr>
          <a:xfrm>
            <a:off x="838200" y="1825625"/>
            <a:ext cx="10515600" cy="3860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00017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914400" rtl="0" eaLnBrk="1" latinLnBrk="0" hangingPunct="1">
        <a:lnSpc>
          <a:spcPct val="90000"/>
        </a:lnSpc>
        <a:spcBef>
          <a:spcPct val="0"/>
        </a:spcBef>
        <a:buNone/>
        <a:defRPr sz="4400" kern="1200">
          <a:solidFill>
            <a:schemeClr val="tx1"/>
          </a:solidFill>
          <a:latin typeface="Bierstadt Display"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000" kern="1200">
          <a:solidFill>
            <a:schemeClr val="tx1"/>
          </a:solidFill>
          <a:latin typeface="Bierstadt Display"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000" kern="1200">
          <a:solidFill>
            <a:schemeClr val="tx1"/>
          </a:solidFill>
          <a:latin typeface="Bierstadt Display"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000" kern="1200">
          <a:solidFill>
            <a:schemeClr val="tx1"/>
          </a:solidFill>
          <a:latin typeface="Bierstadt Display"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000" kern="1200">
          <a:solidFill>
            <a:schemeClr val="tx1"/>
          </a:solidFill>
          <a:latin typeface="Bierstadt Display"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000" kern="1200">
          <a:solidFill>
            <a:schemeClr val="tx1"/>
          </a:solidFill>
          <a:latin typeface="Bierstadt Display"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mailto:meetings@agacgfm.or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acf.hhs.gov/occ/data/fy-2020-ccdf-data-tables-preliminary" TargetMode="External"/><Relationship Id="rId3" Type="http://schemas.openxmlformats.org/officeDocument/2006/relationships/hyperlink" Target="https://sam.gov/data-services/Entity%20Registration/Public%20V2?privacy=Public" TargetMode="External"/><Relationship Id="rId7" Type="http://schemas.openxmlformats.org/officeDocument/2006/relationships/hyperlink" Target="https://eclkc.ohs.acf.hhs.gov/about-us/article/head-start-center-location-datasets" TargetMode="External"/><Relationship Id="rId2" Type="http://schemas.openxmlformats.org/officeDocument/2006/relationships/hyperlink" Target="https://www.census.gov/data.html" TargetMode="External"/><Relationship Id="rId1" Type="http://schemas.openxmlformats.org/officeDocument/2006/relationships/slideLayout" Target="../slideLayouts/slideLayout2.xml"/><Relationship Id="rId6" Type="http://schemas.openxmlformats.org/officeDocument/2006/relationships/hyperlink" Target="https://www.usaspending.gov/" TargetMode="External"/><Relationship Id="rId5" Type="http://schemas.openxmlformats.org/officeDocument/2006/relationships/hyperlink" Target="https://www.bls.gov/" TargetMode="External"/><Relationship Id="rId4" Type="http://schemas.openxmlformats.org/officeDocument/2006/relationships/hyperlink" Target="https://www.irs.gov/charities-non-profits/form-990-series-downloads" TargetMode="External"/><Relationship Id="rId9" Type="http://schemas.openxmlformats.org/officeDocument/2006/relationships/hyperlink" Target="https://www.acf.hhs.gov/ofa/programs/tanf/data-report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269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2FF40-46A9-C066-0D4B-1B77494EAD9F}"/>
              </a:ext>
            </a:extLst>
          </p:cNvPr>
          <p:cNvSpPr>
            <a:spLocks noGrp="1"/>
          </p:cNvSpPr>
          <p:nvPr>
            <p:ph type="ctrTitle"/>
          </p:nvPr>
        </p:nvSpPr>
        <p:spPr>
          <a:xfrm>
            <a:off x="1543050" y="1122363"/>
            <a:ext cx="9124950" cy="4392612"/>
          </a:xfrm>
        </p:spPr>
        <p:txBody>
          <a:bodyPr>
            <a:normAutofit/>
          </a:bodyPr>
          <a:lstStyle/>
          <a:p>
            <a:r>
              <a:rPr lang="en-US" sz="7200" dirty="0">
                <a:latin typeface="Bierstadt Display"/>
              </a:rPr>
              <a:t>Welcome to AGA’s </a:t>
            </a:r>
            <a:br>
              <a:rPr lang="en-US" sz="7200" dirty="0"/>
            </a:br>
            <a:r>
              <a:rPr lang="en-US" sz="7200" dirty="0">
                <a:latin typeface="Bierstadt Display"/>
              </a:rPr>
              <a:t>2026 </a:t>
            </a:r>
            <a:r>
              <a:rPr lang="en-US" sz="7200" dirty="0" err="1">
                <a:latin typeface="Bierstadt Display"/>
              </a:rPr>
              <a:t>Datathon</a:t>
            </a:r>
            <a:br>
              <a:rPr lang="en-US" sz="7200" dirty="0"/>
            </a:br>
            <a:br>
              <a:rPr lang="en-US" sz="7200" dirty="0"/>
            </a:br>
            <a:r>
              <a:rPr lang="en-US" sz="4400" dirty="0">
                <a:latin typeface="Bierstadt Display"/>
              </a:rPr>
              <a:t>December 2, 2025, Kick-Off</a:t>
            </a:r>
          </a:p>
        </p:txBody>
      </p:sp>
    </p:spTree>
    <p:extLst>
      <p:ext uri="{BB962C8B-B14F-4D97-AF65-F5344CB8AC3E}">
        <p14:creationId xmlns:p14="http://schemas.microsoft.com/office/powerpoint/2010/main" val="3654767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p:txBody>
          <a:bodyPr/>
          <a:lstStyle/>
          <a:p>
            <a:r>
              <a:rPr lang="en-US" dirty="0"/>
              <a:t>Today’s Agenda</a:t>
            </a:r>
          </a:p>
        </p:txBody>
      </p:sp>
      <p:sp>
        <p:nvSpPr>
          <p:cNvPr id="4" name="Content Placeholder 3">
            <a:extLst>
              <a:ext uri="{FF2B5EF4-FFF2-40B4-BE49-F238E27FC236}">
                <a16:creationId xmlns:a16="http://schemas.microsoft.com/office/drawing/2014/main" id="{A3A98AE2-9379-C655-454F-968598EAED95}"/>
              </a:ext>
            </a:extLst>
          </p:cNvPr>
          <p:cNvSpPr>
            <a:spLocks noGrp="1"/>
          </p:cNvSpPr>
          <p:nvPr>
            <p:ph idx="1"/>
          </p:nvPr>
        </p:nvSpPr>
        <p:spPr>
          <a:xfrm>
            <a:off x="963522" y="1498600"/>
            <a:ext cx="10515600" cy="3860800"/>
          </a:xfrm>
        </p:spPr>
        <p:txBody>
          <a:bodyPr vert="horz" lIns="91440" tIns="45720" rIns="91440" bIns="45720" rtlCol="0" anchor="t">
            <a:normAutofit fontScale="92500" lnSpcReduction="10000"/>
          </a:bodyPr>
          <a:lstStyle/>
          <a:p>
            <a:r>
              <a:rPr lang="en-US" dirty="0"/>
              <a:t>Welcome and Introductions</a:t>
            </a:r>
          </a:p>
          <a:p>
            <a:r>
              <a:rPr lang="en-US" dirty="0"/>
              <a:t>Meet the Teams</a:t>
            </a:r>
          </a:p>
          <a:p>
            <a:r>
              <a:rPr lang="en-US" dirty="0"/>
              <a:t>Datathon Schedule</a:t>
            </a:r>
          </a:p>
          <a:p>
            <a:r>
              <a:rPr lang="en-US" dirty="0"/>
              <a:t>Introduction of GitHub</a:t>
            </a:r>
          </a:p>
          <a:p>
            <a:r>
              <a:rPr lang="en-US" dirty="0">
                <a:latin typeface="Bierstadt Display"/>
              </a:rPr>
              <a:t>Data Sources</a:t>
            </a:r>
          </a:p>
          <a:p>
            <a:r>
              <a:rPr lang="en-US" dirty="0"/>
              <a:t>Project Development Rules</a:t>
            </a:r>
          </a:p>
          <a:p>
            <a:r>
              <a:rPr lang="en-US" dirty="0"/>
              <a:t>Project Submission</a:t>
            </a:r>
          </a:p>
          <a:p>
            <a:r>
              <a:rPr lang="en-US" dirty="0"/>
              <a:t>Questions?</a:t>
            </a:r>
          </a:p>
          <a:p>
            <a:endParaRPr lang="en-US" dirty="0"/>
          </a:p>
        </p:txBody>
      </p:sp>
      <p:cxnSp>
        <p:nvCxnSpPr>
          <p:cNvPr id="9" name="Straight Connector 8">
            <a:extLst>
              <a:ext uri="{FF2B5EF4-FFF2-40B4-BE49-F238E27FC236}">
                <a16:creationId xmlns:a16="http://schemas.microsoft.com/office/drawing/2014/main" id="{10AE4738-55FD-F4D2-4B1F-5A99A4CFE99F}"/>
              </a:ext>
            </a:extLst>
          </p:cNvPr>
          <p:cNvCxnSpPr/>
          <p:nvPr/>
        </p:nvCxnSpPr>
        <p:spPr>
          <a:xfrm>
            <a:off x="997404" y="130628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8972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a:t>Welcome and Introductions</a:t>
            </a:r>
          </a:p>
        </p:txBody>
      </p:sp>
      <p:sp>
        <p:nvSpPr>
          <p:cNvPr id="4" name="Content Placeholder 3">
            <a:extLst>
              <a:ext uri="{FF2B5EF4-FFF2-40B4-BE49-F238E27FC236}">
                <a16:creationId xmlns:a16="http://schemas.microsoft.com/office/drawing/2014/main" id="{A3A98AE2-9379-C655-454F-968598EAED95}"/>
              </a:ext>
            </a:extLst>
          </p:cNvPr>
          <p:cNvSpPr>
            <a:spLocks noGrp="1"/>
          </p:cNvSpPr>
          <p:nvPr>
            <p:ph idx="1"/>
          </p:nvPr>
        </p:nvSpPr>
        <p:spPr>
          <a:xfrm>
            <a:off x="838200" y="1171575"/>
            <a:ext cx="10801350" cy="4267199"/>
          </a:xfrm>
        </p:spPr>
        <p:txBody>
          <a:bodyPr vert="horz" lIns="91440" tIns="45720" rIns="91440" bIns="45720" rtlCol="0" anchor="t">
            <a:normAutofit/>
          </a:bodyPr>
          <a:lstStyle/>
          <a:p>
            <a:r>
              <a:rPr lang="en-US" b="1" dirty="0"/>
              <a:t>Corporate Partner Technology Committee Members</a:t>
            </a:r>
          </a:p>
          <a:p>
            <a:pPr lvl="1"/>
            <a:r>
              <a:rPr lang="en-US" dirty="0">
                <a:latin typeface="Bierstadt Display"/>
              </a:rPr>
              <a:t>Dave Fitz, CGFM, CPA, PMP – CEO, ProScopeo</a:t>
            </a:r>
          </a:p>
          <a:p>
            <a:pPr lvl="1"/>
            <a:r>
              <a:rPr lang="en-US" dirty="0">
                <a:latin typeface="Bierstadt Display"/>
              </a:rPr>
              <a:t>Nick Garrard – Business Growth Manager, TFC Consulting</a:t>
            </a:r>
          </a:p>
          <a:p>
            <a:pPr lvl="1"/>
            <a:r>
              <a:rPr lang="en-US" dirty="0">
                <a:latin typeface="Bierstadt Display"/>
              </a:rPr>
              <a:t>Rajiv </a:t>
            </a:r>
            <a:r>
              <a:rPr lang="en-US" dirty="0" err="1">
                <a:latin typeface="Bierstadt Display"/>
              </a:rPr>
              <a:t>Gidadhubli</a:t>
            </a:r>
            <a:r>
              <a:rPr lang="en-US" dirty="0">
                <a:latin typeface="Bierstadt Display"/>
              </a:rPr>
              <a:t> – Chief Transformation Officer, Macro Solutions</a:t>
            </a:r>
          </a:p>
          <a:p>
            <a:pPr lvl="1"/>
            <a:r>
              <a:rPr lang="en-US" dirty="0">
                <a:latin typeface="Bierstadt Display"/>
              </a:rPr>
              <a:t>Michael Huffman – Vice President, Concept Plus, LLC</a:t>
            </a:r>
          </a:p>
          <a:p>
            <a:pPr lvl="1"/>
            <a:r>
              <a:rPr lang="en-US" dirty="0">
                <a:latin typeface="Bierstadt Display"/>
              </a:rPr>
              <a:t>Phil Moore – Partner, Kearney &amp; Company</a:t>
            </a:r>
          </a:p>
          <a:p>
            <a:pPr lvl="1"/>
            <a:endParaRPr lang="en-US" dirty="0"/>
          </a:p>
          <a:p>
            <a:pPr lvl="1"/>
            <a:endParaRPr lang="en-US" dirty="0"/>
          </a:p>
        </p:txBody>
      </p:sp>
      <p:cxnSp>
        <p:nvCxnSpPr>
          <p:cNvPr id="3" name="Straight Connector 2">
            <a:extLst>
              <a:ext uri="{FF2B5EF4-FFF2-40B4-BE49-F238E27FC236}">
                <a16:creationId xmlns:a16="http://schemas.microsoft.com/office/drawing/2014/main" id="{01D90238-4474-50B5-30C7-384152F69A28}"/>
              </a:ext>
            </a:extLst>
          </p:cNvPr>
          <p:cNvCxnSpPr/>
          <p:nvPr/>
        </p:nvCxnSpPr>
        <p:spPr>
          <a:xfrm>
            <a:off x="930729" y="84908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0519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a:t>Welcome and Introductions</a:t>
            </a:r>
          </a:p>
        </p:txBody>
      </p:sp>
      <p:sp>
        <p:nvSpPr>
          <p:cNvPr id="6" name="TextBox 5">
            <a:extLst>
              <a:ext uri="{FF2B5EF4-FFF2-40B4-BE49-F238E27FC236}">
                <a16:creationId xmlns:a16="http://schemas.microsoft.com/office/drawing/2014/main" id="{AE84117E-136A-0EF9-6002-E3D5A0AAEEEC}"/>
              </a:ext>
            </a:extLst>
          </p:cNvPr>
          <p:cNvSpPr txBox="1"/>
          <p:nvPr/>
        </p:nvSpPr>
        <p:spPr>
          <a:xfrm>
            <a:off x="1028700" y="1266826"/>
            <a:ext cx="9582150" cy="360098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000" b="1" dirty="0">
                <a:latin typeface="Bierstadt Display" panose="020B0004020202020204" pitchFamily="34" charset="0"/>
              </a:rPr>
              <a:t>AGA Staff Members</a:t>
            </a:r>
          </a:p>
          <a:p>
            <a:pPr marL="742950" lvl="1" indent="-285750">
              <a:buFont typeface="Arial" panose="020B0604020202020204" pitchFamily="34" charset="0"/>
              <a:buChar char="•"/>
            </a:pPr>
            <a:r>
              <a:rPr lang="en-US" sz="3000" dirty="0">
                <a:latin typeface="Bierstadt Display" panose="020B0004020202020204" pitchFamily="34" charset="0"/>
              </a:rPr>
              <a:t>Ann Ebberts, PMP – CEO</a:t>
            </a:r>
          </a:p>
          <a:p>
            <a:pPr marL="742950" lvl="1" indent="-285750">
              <a:buFont typeface="Arial" panose="020B0604020202020204" pitchFamily="34" charset="0"/>
              <a:buChar char="•"/>
            </a:pPr>
            <a:r>
              <a:rPr lang="en-US" sz="3000" dirty="0">
                <a:latin typeface="Bierstadt Display" panose="020B0004020202020204" pitchFamily="34" charset="0"/>
              </a:rPr>
              <a:t>Susan Fritzlen – COO</a:t>
            </a:r>
          </a:p>
          <a:p>
            <a:pPr marL="742950" lvl="1" indent="-285750">
              <a:buFont typeface="Arial" panose="020B0604020202020204" pitchFamily="34" charset="0"/>
              <a:buChar char="•"/>
            </a:pPr>
            <a:r>
              <a:rPr lang="en-US" sz="3000" dirty="0">
                <a:latin typeface="Bierstadt Display" panose="020B0004020202020204" pitchFamily="34" charset="0"/>
              </a:rPr>
              <a:t>Monica Cordova, CMP, CEM, DES – Senior Manager, Meetings &amp; Exhibits</a:t>
            </a:r>
          </a:p>
          <a:p>
            <a:pPr marL="742950" lvl="1" indent="-285750">
              <a:buFont typeface="Arial" panose="020B0604020202020204" pitchFamily="34" charset="0"/>
              <a:buChar char="•"/>
            </a:pPr>
            <a:r>
              <a:rPr lang="en-US" sz="3000" dirty="0">
                <a:latin typeface="Bierstadt Display"/>
              </a:rPr>
              <a:t>Jennifer Garrett, PMP – Manager, Meetings &amp; Student Programs</a:t>
            </a:r>
          </a:p>
          <a:p>
            <a:endParaRPr lang="en-US" dirty="0"/>
          </a:p>
        </p:txBody>
      </p:sp>
      <p:cxnSp>
        <p:nvCxnSpPr>
          <p:cNvPr id="7" name="Straight Connector 6">
            <a:extLst>
              <a:ext uri="{FF2B5EF4-FFF2-40B4-BE49-F238E27FC236}">
                <a16:creationId xmlns:a16="http://schemas.microsoft.com/office/drawing/2014/main" id="{8EF4B972-D863-66F2-54E2-F41A3C8D1510}"/>
              </a:ext>
            </a:extLst>
          </p:cNvPr>
          <p:cNvCxnSpPr/>
          <p:nvPr/>
        </p:nvCxnSpPr>
        <p:spPr>
          <a:xfrm>
            <a:off x="959304" y="858611"/>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699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a:t>Meet the Teams!</a:t>
            </a:r>
          </a:p>
        </p:txBody>
      </p:sp>
      <p:graphicFrame>
        <p:nvGraphicFramePr>
          <p:cNvPr id="11" name="Content Placeholder 10">
            <a:extLst>
              <a:ext uri="{FF2B5EF4-FFF2-40B4-BE49-F238E27FC236}">
                <a16:creationId xmlns:a16="http://schemas.microsoft.com/office/drawing/2014/main" id="{546E6BA7-88BD-8334-D94D-B7E301B03289}"/>
              </a:ext>
            </a:extLst>
          </p:cNvPr>
          <p:cNvGraphicFramePr>
            <a:graphicFrameLocks noGrp="1"/>
          </p:cNvGraphicFramePr>
          <p:nvPr>
            <p:ph idx="1"/>
            <p:extLst>
              <p:ext uri="{D42A27DB-BD31-4B8C-83A1-F6EECF244321}">
                <p14:modId xmlns:p14="http://schemas.microsoft.com/office/powerpoint/2010/main" val="1061025378"/>
              </p:ext>
            </p:extLst>
          </p:nvPr>
        </p:nvGraphicFramePr>
        <p:xfrm>
          <a:off x="2540941" y="1317625"/>
          <a:ext cx="10515600" cy="4069080"/>
        </p:xfrm>
        <a:graphic>
          <a:graphicData uri="http://schemas.openxmlformats.org/drawingml/2006/table">
            <a:tbl>
              <a:tblPr bandRow="1">
                <a:tableStyleId>{5C22544A-7EE6-4342-B048-85BDC9FD1C3A}</a:tableStyleId>
              </a:tblPr>
              <a:tblGrid>
                <a:gridCol w="3505200">
                  <a:extLst>
                    <a:ext uri="{9D8B030D-6E8A-4147-A177-3AD203B41FA5}">
                      <a16:colId xmlns:a16="http://schemas.microsoft.com/office/drawing/2014/main" val="3700481670"/>
                    </a:ext>
                  </a:extLst>
                </a:gridCol>
                <a:gridCol w="3505200">
                  <a:extLst>
                    <a:ext uri="{9D8B030D-6E8A-4147-A177-3AD203B41FA5}">
                      <a16:colId xmlns:a16="http://schemas.microsoft.com/office/drawing/2014/main" val="4012976356"/>
                    </a:ext>
                  </a:extLst>
                </a:gridCol>
                <a:gridCol w="3505200">
                  <a:extLst>
                    <a:ext uri="{9D8B030D-6E8A-4147-A177-3AD203B41FA5}">
                      <a16:colId xmlns:a16="http://schemas.microsoft.com/office/drawing/2014/main" val="2724896448"/>
                    </a:ext>
                  </a:extLst>
                </a:gridCol>
              </a:tblGrid>
              <a:tr h="396240">
                <a:tc>
                  <a:txBody>
                    <a:bodyPr/>
                    <a:lstStyle/>
                    <a:p>
                      <a:pPr>
                        <a:buNone/>
                      </a:pPr>
                      <a:r>
                        <a:rPr lang="en-US" b="1" dirty="0">
                          <a:effectLst/>
                          <a:latin typeface="Bierstadt Display"/>
                        </a:rPr>
                        <a:t>Team BSU</a:t>
                      </a:r>
                    </a:p>
                  </a:txBody>
                  <a:tcPr marL="0" marR="0" marT="0" marB="0" anchor="ctr">
                    <a:lnL>
                      <a:noFill/>
                    </a:lnL>
                    <a:lnR>
                      <a:noFill/>
                    </a:lnR>
                    <a:lnT>
                      <a:noFill/>
                    </a:lnT>
                    <a:lnB>
                      <a:noFill/>
                    </a:lnB>
                    <a:noFill/>
                  </a:tcPr>
                </a:tc>
                <a:tc>
                  <a:txBody>
                    <a:bodyPr/>
                    <a:lstStyle/>
                    <a:p>
                      <a:pPr>
                        <a:buNone/>
                      </a:pPr>
                      <a:r>
                        <a:rPr lang="en-US" b="1" dirty="0">
                          <a:effectLst/>
                          <a:latin typeface="Bierstadt Display"/>
                        </a:rPr>
                        <a:t>Bowie State University</a:t>
                      </a:r>
                    </a:p>
                  </a:txBody>
                  <a:tcPr marL="0" marR="0" marT="0" marB="0" anchor="ctr">
                    <a:lnL>
                      <a:noFill/>
                    </a:lnL>
                    <a:lnR>
                      <a:noFill/>
                    </a:lnR>
                    <a:lnT>
                      <a:noFill/>
                    </a:lnT>
                    <a:lnB>
                      <a:noFill/>
                    </a:lnB>
                    <a:noFill/>
                  </a:tcPr>
                </a:tc>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486550953"/>
                  </a:ext>
                </a:extLst>
              </a:tr>
              <a:tr h="396240">
                <a:tc>
                  <a:txBody>
                    <a:bodyPr/>
                    <a:lstStyle/>
                    <a:p>
                      <a:pPr>
                        <a:buNone/>
                      </a:pPr>
                      <a:r>
                        <a:rPr lang="en-US" b="1" err="1">
                          <a:effectLst/>
                          <a:latin typeface="Bierstadt Display"/>
                        </a:rPr>
                        <a:t>Datronics</a:t>
                      </a:r>
                      <a:endParaRPr lang="en-US" b="1" dirty="0" err="1">
                        <a:effectLst/>
                        <a:latin typeface="Bierstadt Display"/>
                      </a:endParaRPr>
                    </a:p>
                  </a:txBody>
                  <a:tcPr marL="0" marR="0" marT="0" marB="0" anchor="ctr">
                    <a:lnL>
                      <a:noFill/>
                    </a:lnL>
                    <a:lnR>
                      <a:noFill/>
                    </a:lnR>
                    <a:lnT>
                      <a:noFill/>
                    </a:lnT>
                    <a:lnB>
                      <a:noFill/>
                    </a:lnB>
                    <a:noFill/>
                  </a:tcPr>
                </a:tc>
                <a:tc>
                  <a:txBody>
                    <a:bodyPr/>
                    <a:lstStyle/>
                    <a:p>
                      <a:pPr>
                        <a:buNone/>
                      </a:pPr>
                      <a:r>
                        <a:rPr lang="en-US" b="1" dirty="0">
                          <a:effectLst/>
                          <a:latin typeface="Bierstadt Display"/>
                        </a:rPr>
                        <a:t>Delaware Technical Community College</a:t>
                      </a:r>
                    </a:p>
                  </a:txBody>
                  <a:tcPr marL="0" marR="0" marT="0" marB="0" anchor="ctr">
                    <a:lnL>
                      <a:noFill/>
                    </a:lnL>
                    <a:lnR>
                      <a:noFill/>
                    </a:lnR>
                    <a:lnT>
                      <a:noFill/>
                    </a:lnT>
                    <a:lnB>
                      <a:noFill/>
                    </a:lnB>
                    <a:noFill/>
                  </a:tcPr>
                </a:tc>
                <a:tc>
                  <a:txBody>
                    <a:bodyPr/>
                    <a:lstStyle/>
                    <a:p>
                      <a:pPr>
                        <a:buNone/>
                      </a:pPr>
                      <a:endParaRPr lang="en-US"/>
                    </a:p>
                  </a:txBody>
                  <a:tcPr marL="0" marR="0" marT="0" marB="0" anchor="ctr">
                    <a:lnL>
                      <a:noFill/>
                    </a:lnL>
                    <a:lnR>
                      <a:noFill/>
                    </a:lnR>
                    <a:lnT>
                      <a:noFill/>
                    </a:lnT>
                    <a:lnB>
                      <a:noFill/>
                    </a:lnB>
                    <a:noFill/>
                  </a:tcPr>
                </a:tc>
                <a:extLst>
                  <a:ext uri="{0D108BD9-81ED-4DB2-BD59-A6C34878D82A}">
                    <a16:rowId xmlns:a16="http://schemas.microsoft.com/office/drawing/2014/main" val="1038139136"/>
                  </a:ext>
                </a:extLst>
              </a:tr>
              <a:tr h="396240">
                <a:tc>
                  <a:txBody>
                    <a:bodyPr/>
                    <a:lstStyle/>
                    <a:p>
                      <a:pPr>
                        <a:buNone/>
                      </a:pPr>
                      <a:r>
                        <a:rPr lang="en-US" b="1" dirty="0">
                          <a:effectLst/>
                          <a:latin typeface="Bierstadt Display"/>
                        </a:rPr>
                        <a:t>Fiscal Patriots</a:t>
                      </a:r>
                    </a:p>
                  </a:txBody>
                  <a:tcPr marL="0" marR="0" marT="0" marB="0" anchor="ctr">
                    <a:lnL>
                      <a:noFill/>
                    </a:lnL>
                    <a:lnR>
                      <a:noFill/>
                    </a:lnR>
                    <a:lnT>
                      <a:noFill/>
                    </a:lnT>
                    <a:lnB>
                      <a:noFill/>
                    </a:lnB>
                    <a:noFill/>
                  </a:tcPr>
                </a:tc>
                <a:tc>
                  <a:txBody>
                    <a:bodyPr/>
                    <a:lstStyle/>
                    <a:p>
                      <a:pPr>
                        <a:buNone/>
                      </a:pPr>
                      <a:r>
                        <a:rPr lang="en-US" b="1" dirty="0">
                          <a:effectLst/>
                          <a:latin typeface="Bierstadt Display"/>
                        </a:rPr>
                        <a:t>George Mason University </a:t>
                      </a:r>
                    </a:p>
                  </a:txBody>
                  <a:tcPr marL="0" marR="0" marT="0" marB="0" anchor="ctr">
                    <a:lnL>
                      <a:noFill/>
                    </a:lnL>
                    <a:lnR>
                      <a:noFill/>
                    </a:lnR>
                    <a:lnT>
                      <a:noFill/>
                    </a:lnT>
                    <a:lnB>
                      <a:noFill/>
                    </a:lnB>
                    <a:noFill/>
                  </a:tcPr>
                </a:tc>
                <a:tc>
                  <a:txBody>
                    <a:bodyPr/>
                    <a:lstStyle/>
                    <a:p>
                      <a:pPr>
                        <a:buNone/>
                      </a:pPr>
                      <a:endParaRPr lang="en-US"/>
                    </a:p>
                  </a:txBody>
                  <a:tcPr marL="0" marR="0" marT="0" marB="0" anchor="ctr">
                    <a:lnL>
                      <a:noFill/>
                    </a:lnL>
                    <a:lnR>
                      <a:noFill/>
                    </a:lnR>
                    <a:lnT>
                      <a:noFill/>
                    </a:lnT>
                    <a:lnB>
                      <a:noFill/>
                    </a:lnB>
                    <a:noFill/>
                  </a:tcPr>
                </a:tc>
                <a:extLst>
                  <a:ext uri="{0D108BD9-81ED-4DB2-BD59-A6C34878D82A}">
                    <a16:rowId xmlns:a16="http://schemas.microsoft.com/office/drawing/2014/main" val="1289525274"/>
                  </a:ext>
                </a:extLst>
              </a:tr>
              <a:tr h="198120">
                <a:tc>
                  <a:txBody>
                    <a:bodyPr/>
                    <a:lstStyle/>
                    <a:p>
                      <a:pPr>
                        <a:buNone/>
                      </a:pPr>
                      <a:r>
                        <a:rPr lang="en-US" b="1" dirty="0">
                          <a:effectLst/>
                          <a:latin typeface="Bierstadt Display"/>
                        </a:rPr>
                        <a:t>AAA</a:t>
                      </a:r>
                    </a:p>
                  </a:txBody>
                  <a:tcPr marL="0" marR="0" marT="0" marB="0" anchor="ctr">
                    <a:lnL>
                      <a:noFill/>
                    </a:lnL>
                    <a:lnR>
                      <a:noFill/>
                    </a:lnR>
                    <a:lnT>
                      <a:noFill/>
                    </a:lnT>
                    <a:lnB>
                      <a:noFill/>
                    </a:lnB>
                    <a:noFill/>
                  </a:tcPr>
                </a:tc>
                <a:tc>
                  <a:txBody>
                    <a:bodyPr/>
                    <a:lstStyle/>
                    <a:p>
                      <a:pPr>
                        <a:buNone/>
                      </a:pPr>
                      <a:r>
                        <a:rPr lang="en-US" b="1" dirty="0">
                          <a:effectLst/>
                          <a:latin typeface="Bierstadt Display"/>
                        </a:rPr>
                        <a:t>George Mason University </a:t>
                      </a:r>
                    </a:p>
                  </a:txBody>
                  <a:tcPr marL="0" marR="0" marT="0" marB="0" anchor="ctr">
                    <a:lnL>
                      <a:noFill/>
                    </a:lnL>
                    <a:lnR>
                      <a:noFill/>
                    </a:lnR>
                    <a:lnT>
                      <a:noFill/>
                    </a:lnT>
                    <a:lnB>
                      <a:noFill/>
                    </a:lnB>
                    <a:noFill/>
                  </a:tcPr>
                </a:tc>
                <a:tc>
                  <a:txBody>
                    <a:bodyPr/>
                    <a:lstStyle/>
                    <a:p>
                      <a:pPr>
                        <a:buNone/>
                      </a:pPr>
                      <a:endParaRPr lang="en-US"/>
                    </a:p>
                  </a:txBody>
                  <a:tcPr marL="0" marR="0" marT="0" marB="0" anchor="ctr">
                    <a:lnL>
                      <a:noFill/>
                    </a:lnL>
                    <a:lnR>
                      <a:noFill/>
                    </a:lnR>
                    <a:lnT>
                      <a:noFill/>
                    </a:lnT>
                    <a:lnB>
                      <a:noFill/>
                    </a:lnB>
                    <a:noFill/>
                  </a:tcPr>
                </a:tc>
                <a:extLst>
                  <a:ext uri="{0D108BD9-81ED-4DB2-BD59-A6C34878D82A}">
                    <a16:rowId xmlns:a16="http://schemas.microsoft.com/office/drawing/2014/main" val="1187380204"/>
                  </a:ext>
                </a:extLst>
              </a:tr>
              <a:tr h="396240">
                <a:tc>
                  <a:txBody>
                    <a:bodyPr/>
                    <a:lstStyle/>
                    <a:p>
                      <a:pPr>
                        <a:buNone/>
                      </a:pPr>
                      <a:r>
                        <a:rPr lang="en-US" b="1" err="1">
                          <a:effectLst/>
                          <a:latin typeface="Bierstadt Display"/>
                        </a:rPr>
                        <a:t>DataHeads</a:t>
                      </a:r>
                      <a:endParaRPr lang="en-US" b="1" dirty="0" err="1">
                        <a:effectLst/>
                        <a:latin typeface="Bierstadt Display"/>
                      </a:endParaRPr>
                    </a:p>
                  </a:txBody>
                  <a:tcPr marL="0" marR="0" marT="0" marB="0" anchor="ctr">
                    <a:lnL>
                      <a:noFill/>
                    </a:lnL>
                    <a:lnR>
                      <a:noFill/>
                    </a:lnR>
                    <a:lnT>
                      <a:noFill/>
                    </a:lnT>
                    <a:lnB>
                      <a:noFill/>
                    </a:lnB>
                    <a:noFill/>
                  </a:tcPr>
                </a:tc>
                <a:tc>
                  <a:txBody>
                    <a:bodyPr/>
                    <a:lstStyle/>
                    <a:p>
                      <a:pPr>
                        <a:buNone/>
                      </a:pPr>
                      <a:r>
                        <a:rPr lang="en-US" b="1" dirty="0">
                          <a:effectLst/>
                          <a:latin typeface="Bierstadt Display"/>
                        </a:rPr>
                        <a:t>George Washington University</a:t>
                      </a:r>
                    </a:p>
                  </a:txBody>
                  <a:tcPr marL="0" marR="0" marT="0" marB="0" anchor="ctr">
                    <a:lnL>
                      <a:noFill/>
                    </a:lnL>
                    <a:lnR>
                      <a:noFill/>
                    </a:lnR>
                    <a:lnT>
                      <a:noFill/>
                    </a:lnT>
                    <a:lnB>
                      <a:noFill/>
                    </a:lnB>
                    <a:noFill/>
                  </a:tcPr>
                </a:tc>
                <a:tc>
                  <a:txBody>
                    <a:bodyPr/>
                    <a:lstStyle/>
                    <a:p>
                      <a:pPr>
                        <a:buNone/>
                      </a:pPr>
                      <a:endParaRPr lang="en-US"/>
                    </a:p>
                  </a:txBody>
                  <a:tcPr marL="0" marR="0" marT="0" marB="0" anchor="ctr">
                    <a:lnL>
                      <a:noFill/>
                    </a:lnL>
                    <a:lnR>
                      <a:noFill/>
                    </a:lnR>
                    <a:lnT>
                      <a:noFill/>
                    </a:lnT>
                    <a:lnB>
                      <a:noFill/>
                    </a:lnB>
                    <a:noFill/>
                  </a:tcPr>
                </a:tc>
                <a:extLst>
                  <a:ext uri="{0D108BD9-81ED-4DB2-BD59-A6C34878D82A}">
                    <a16:rowId xmlns:a16="http://schemas.microsoft.com/office/drawing/2014/main" val="1182664623"/>
                  </a:ext>
                </a:extLst>
              </a:tr>
              <a:tr h="594360">
                <a:tc>
                  <a:txBody>
                    <a:bodyPr/>
                    <a:lstStyle/>
                    <a:p>
                      <a:pPr>
                        <a:buNone/>
                      </a:pPr>
                      <a:r>
                        <a:rPr lang="en-US" b="1" dirty="0">
                          <a:effectLst/>
                          <a:latin typeface="Bierstadt Display"/>
                        </a:rPr>
                        <a:t>The </a:t>
                      </a:r>
                      <a:r>
                        <a:rPr lang="en-US" b="1" err="1">
                          <a:effectLst/>
                          <a:latin typeface="Bierstadt Display"/>
                        </a:rPr>
                        <a:t>Datalisters</a:t>
                      </a:r>
                      <a:endParaRPr lang="en-US" b="1" dirty="0" err="1">
                        <a:effectLst/>
                        <a:latin typeface="Bierstadt Display"/>
                      </a:endParaRPr>
                    </a:p>
                  </a:txBody>
                  <a:tcPr marL="0" marR="0" marT="0" marB="0" anchor="ctr">
                    <a:lnL>
                      <a:noFill/>
                    </a:lnL>
                    <a:lnR>
                      <a:noFill/>
                    </a:lnR>
                    <a:lnT>
                      <a:noFill/>
                    </a:lnT>
                    <a:lnB>
                      <a:noFill/>
                    </a:lnB>
                    <a:noFill/>
                  </a:tcPr>
                </a:tc>
                <a:tc>
                  <a:txBody>
                    <a:bodyPr/>
                    <a:lstStyle/>
                    <a:p>
                      <a:pPr>
                        <a:buNone/>
                      </a:pPr>
                      <a:r>
                        <a:rPr lang="en-US" b="1" dirty="0">
                          <a:effectLst/>
                          <a:latin typeface="Bierstadt Display"/>
                        </a:rPr>
                        <a:t>Horry-Georgetown Technical College</a:t>
                      </a:r>
                    </a:p>
                  </a:txBody>
                  <a:tcPr marL="0" marR="0" marT="0" marB="0" anchor="ctr">
                    <a:lnL>
                      <a:noFill/>
                    </a:lnL>
                    <a:lnR>
                      <a:noFill/>
                    </a:lnR>
                    <a:lnT>
                      <a:noFill/>
                    </a:lnT>
                    <a:lnB>
                      <a:noFill/>
                    </a:lnB>
                    <a:noFill/>
                  </a:tcPr>
                </a:tc>
                <a:tc>
                  <a:txBody>
                    <a:bodyPr/>
                    <a:lstStyle/>
                    <a:p>
                      <a:pPr>
                        <a:buNone/>
                      </a:pPr>
                      <a:endParaRPr lang="en-US"/>
                    </a:p>
                  </a:txBody>
                  <a:tcPr marL="0" marR="0" marT="0" marB="0" anchor="ctr">
                    <a:lnL>
                      <a:noFill/>
                    </a:lnL>
                    <a:lnR>
                      <a:noFill/>
                    </a:lnR>
                    <a:lnT>
                      <a:noFill/>
                    </a:lnT>
                    <a:lnB>
                      <a:noFill/>
                    </a:lnB>
                    <a:noFill/>
                  </a:tcPr>
                </a:tc>
                <a:extLst>
                  <a:ext uri="{0D108BD9-81ED-4DB2-BD59-A6C34878D82A}">
                    <a16:rowId xmlns:a16="http://schemas.microsoft.com/office/drawing/2014/main" val="4229472818"/>
                  </a:ext>
                </a:extLst>
              </a:tr>
              <a:tr h="198120">
                <a:tc>
                  <a:txBody>
                    <a:bodyPr/>
                    <a:lstStyle/>
                    <a:p>
                      <a:pPr>
                        <a:buNone/>
                      </a:pPr>
                      <a:r>
                        <a:rPr lang="en-US" b="1" err="1">
                          <a:effectLst/>
                          <a:latin typeface="Bierstadt Display"/>
                        </a:rPr>
                        <a:t>FinCore</a:t>
                      </a:r>
                      <a:endParaRPr lang="en-US" b="1" dirty="0" err="1">
                        <a:effectLst/>
                        <a:latin typeface="Bierstadt Display"/>
                      </a:endParaRPr>
                    </a:p>
                  </a:txBody>
                  <a:tcPr marL="0" marR="0" marT="0" marB="0" anchor="ctr">
                    <a:lnL>
                      <a:noFill/>
                    </a:lnL>
                    <a:lnR>
                      <a:noFill/>
                    </a:lnR>
                    <a:lnT>
                      <a:noFill/>
                    </a:lnT>
                    <a:lnB>
                      <a:noFill/>
                    </a:lnB>
                    <a:noFill/>
                  </a:tcPr>
                </a:tc>
                <a:tc>
                  <a:txBody>
                    <a:bodyPr/>
                    <a:lstStyle/>
                    <a:p>
                      <a:pPr>
                        <a:buNone/>
                      </a:pPr>
                      <a:r>
                        <a:rPr lang="en-US" b="1" dirty="0">
                          <a:effectLst/>
                          <a:latin typeface="Bierstadt Display"/>
                        </a:rPr>
                        <a:t>Kennesaw State University</a:t>
                      </a:r>
                    </a:p>
                  </a:txBody>
                  <a:tcPr marL="0" marR="0" marT="0" marB="0" anchor="ctr">
                    <a:lnL>
                      <a:noFill/>
                    </a:lnL>
                    <a:lnR>
                      <a:noFill/>
                    </a:lnR>
                    <a:lnT>
                      <a:noFill/>
                    </a:lnT>
                    <a:lnB>
                      <a:noFill/>
                    </a:lnB>
                    <a:noFill/>
                  </a:tcPr>
                </a:tc>
                <a:tc>
                  <a:txBody>
                    <a:bodyPr/>
                    <a:lstStyle/>
                    <a:p>
                      <a:pPr>
                        <a:buNone/>
                      </a:pPr>
                      <a:endParaRPr lang="en-US"/>
                    </a:p>
                  </a:txBody>
                  <a:tcPr marL="0" marR="0" marT="0" marB="0" anchor="ctr">
                    <a:lnL>
                      <a:noFill/>
                    </a:lnL>
                    <a:lnR>
                      <a:noFill/>
                    </a:lnR>
                    <a:lnT>
                      <a:noFill/>
                    </a:lnT>
                    <a:lnB>
                      <a:noFill/>
                    </a:lnB>
                    <a:noFill/>
                  </a:tcPr>
                </a:tc>
                <a:extLst>
                  <a:ext uri="{0D108BD9-81ED-4DB2-BD59-A6C34878D82A}">
                    <a16:rowId xmlns:a16="http://schemas.microsoft.com/office/drawing/2014/main" val="1980734092"/>
                  </a:ext>
                </a:extLst>
              </a:tr>
              <a:tr h="396240">
                <a:tc>
                  <a:txBody>
                    <a:bodyPr/>
                    <a:lstStyle/>
                    <a:p>
                      <a:pPr>
                        <a:buNone/>
                      </a:pPr>
                      <a:r>
                        <a:rPr lang="en-US" b="1" dirty="0">
                          <a:effectLst/>
                          <a:latin typeface="Bierstadt Display"/>
                        </a:rPr>
                        <a:t>Maximus</a:t>
                      </a:r>
                    </a:p>
                  </a:txBody>
                  <a:tcPr marL="0" marR="0" marT="0" marB="0" anchor="ctr">
                    <a:lnL>
                      <a:noFill/>
                    </a:lnL>
                    <a:lnR>
                      <a:noFill/>
                    </a:lnR>
                    <a:lnT>
                      <a:noFill/>
                    </a:lnT>
                    <a:lnB>
                      <a:noFill/>
                    </a:lnB>
                    <a:noFill/>
                  </a:tcPr>
                </a:tc>
                <a:tc gridSpan="2">
                  <a:txBody>
                    <a:bodyPr/>
                    <a:lstStyle/>
                    <a:p>
                      <a:pPr>
                        <a:buNone/>
                      </a:pPr>
                      <a:r>
                        <a:rPr lang="en-US" b="1" dirty="0">
                          <a:effectLst/>
                          <a:latin typeface="Bierstadt Display"/>
                        </a:rPr>
                        <a:t>TBD</a:t>
                      </a:r>
                    </a:p>
                  </a:txBody>
                  <a:tcPr marL="0" marR="0" marT="0" marB="0" anchor="ctr">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242839471"/>
                  </a:ext>
                </a:extLst>
              </a:tr>
              <a:tr h="396240">
                <a:tc>
                  <a:txBody>
                    <a:bodyPr/>
                    <a:lstStyle/>
                    <a:p>
                      <a:pPr>
                        <a:buNone/>
                      </a:pPr>
                      <a:r>
                        <a:rPr lang="en-US" b="1" dirty="0">
                          <a:effectLst/>
                          <a:latin typeface="Bierstadt Display"/>
                        </a:rPr>
                        <a:t>SCC Hawks</a:t>
                      </a:r>
                    </a:p>
                  </a:txBody>
                  <a:tcPr marL="0" marR="0" marT="0" marB="0" anchor="ctr">
                    <a:lnL>
                      <a:noFill/>
                    </a:lnL>
                    <a:lnR>
                      <a:noFill/>
                    </a:lnR>
                    <a:lnT>
                      <a:noFill/>
                    </a:lnT>
                    <a:lnB>
                      <a:noFill/>
                    </a:lnB>
                    <a:noFill/>
                  </a:tcPr>
                </a:tc>
                <a:tc>
                  <a:txBody>
                    <a:bodyPr/>
                    <a:lstStyle/>
                    <a:p>
                      <a:pPr>
                        <a:buNone/>
                      </a:pPr>
                      <a:r>
                        <a:rPr lang="en-US" b="1" dirty="0">
                          <a:effectLst/>
                          <a:latin typeface="Bierstadt Display"/>
                        </a:rPr>
                        <a:t>Santiago Canyon College</a:t>
                      </a:r>
                    </a:p>
                  </a:txBody>
                  <a:tcPr marL="0" marR="0" marT="0" marB="0" anchor="ctr">
                    <a:lnL>
                      <a:noFill/>
                    </a:lnL>
                    <a:lnR>
                      <a:noFill/>
                    </a:lnR>
                    <a:lnT>
                      <a:noFill/>
                    </a:lnT>
                    <a:lnB>
                      <a:noFill/>
                    </a:lnB>
                    <a:noFill/>
                  </a:tcPr>
                </a:tc>
                <a:tc>
                  <a:txBody>
                    <a:bodyPr/>
                    <a:lstStyle/>
                    <a:p>
                      <a:pPr>
                        <a:buNone/>
                      </a:pPr>
                      <a:endParaRPr lang="en-US"/>
                    </a:p>
                  </a:txBody>
                  <a:tcPr marL="0" marR="0" marT="0" marB="0" anchor="ctr">
                    <a:lnL>
                      <a:noFill/>
                    </a:lnL>
                    <a:lnR>
                      <a:noFill/>
                    </a:lnR>
                    <a:lnT>
                      <a:noFill/>
                    </a:lnT>
                    <a:lnB>
                      <a:noFill/>
                    </a:lnB>
                    <a:noFill/>
                  </a:tcPr>
                </a:tc>
                <a:extLst>
                  <a:ext uri="{0D108BD9-81ED-4DB2-BD59-A6C34878D82A}">
                    <a16:rowId xmlns:a16="http://schemas.microsoft.com/office/drawing/2014/main" val="2469432485"/>
                  </a:ext>
                </a:extLst>
              </a:tr>
              <a:tr h="396240">
                <a:tc>
                  <a:txBody>
                    <a:bodyPr/>
                    <a:lstStyle/>
                    <a:p>
                      <a:pPr>
                        <a:buNone/>
                      </a:pPr>
                      <a:r>
                        <a:rPr lang="en-US" b="1" dirty="0">
                          <a:effectLst/>
                          <a:latin typeface="Bierstadt Display"/>
                        </a:rPr>
                        <a:t>Tensor Terps</a:t>
                      </a:r>
                    </a:p>
                  </a:txBody>
                  <a:tcPr marL="0" marR="0" marT="0" marB="0" anchor="ctr">
                    <a:lnL>
                      <a:noFill/>
                    </a:lnL>
                    <a:lnR>
                      <a:noFill/>
                    </a:lnR>
                    <a:lnT>
                      <a:noFill/>
                    </a:lnT>
                    <a:lnB>
                      <a:noFill/>
                    </a:lnB>
                    <a:noFill/>
                  </a:tcPr>
                </a:tc>
                <a:tc>
                  <a:txBody>
                    <a:bodyPr/>
                    <a:lstStyle/>
                    <a:p>
                      <a:pPr>
                        <a:buNone/>
                      </a:pPr>
                      <a:r>
                        <a:rPr lang="en-US" b="1" dirty="0">
                          <a:effectLst/>
                          <a:latin typeface="Bierstadt Display"/>
                        </a:rPr>
                        <a:t>University of Maryland</a:t>
                      </a:r>
                    </a:p>
                  </a:txBody>
                  <a:tcPr marL="0" marR="0" marT="0" marB="0" anchor="ctr">
                    <a:lnL>
                      <a:noFill/>
                    </a:lnL>
                    <a:lnR>
                      <a:noFill/>
                    </a:lnR>
                    <a:lnT>
                      <a:noFill/>
                    </a:lnT>
                    <a:lnB>
                      <a:noFill/>
                    </a:lnB>
                    <a:noFill/>
                  </a:tcPr>
                </a:tc>
                <a:tc>
                  <a:txBody>
                    <a:bodyPr/>
                    <a:lstStyle/>
                    <a:p>
                      <a:pPr>
                        <a:buNone/>
                      </a:pPr>
                      <a:endParaRPr lang="en-US"/>
                    </a:p>
                  </a:txBody>
                  <a:tcPr marL="0" marR="0" marT="0" marB="0" anchor="ctr">
                    <a:lnL>
                      <a:noFill/>
                    </a:lnL>
                    <a:lnR>
                      <a:noFill/>
                    </a:lnR>
                    <a:lnT>
                      <a:noFill/>
                    </a:lnT>
                    <a:lnB>
                      <a:noFill/>
                    </a:lnB>
                    <a:noFill/>
                  </a:tcPr>
                </a:tc>
                <a:extLst>
                  <a:ext uri="{0D108BD9-81ED-4DB2-BD59-A6C34878D82A}">
                    <a16:rowId xmlns:a16="http://schemas.microsoft.com/office/drawing/2014/main" val="2847534164"/>
                  </a:ext>
                </a:extLst>
              </a:tr>
            </a:tbl>
          </a:graphicData>
        </a:graphic>
      </p:graphicFrame>
      <p:cxnSp>
        <p:nvCxnSpPr>
          <p:cNvPr id="5" name="Straight Connector 4">
            <a:extLst>
              <a:ext uri="{FF2B5EF4-FFF2-40B4-BE49-F238E27FC236}">
                <a16:creationId xmlns:a16="http://schemas.microsoft.com/office/drawing/2014/main" id="{DF9B8512-BF5F-A17D-E98F-26F90D433CFF}"/>
              </a:ext>
            </a:extLst>
          </p:cNvPr>
          <p:cNvCxnSpPr/>
          <p:nvPr/>
        </p:nvCxnSpPr>
        <p:spPr>
          <a:xfrm>
            <a:off x="973454" y="877661"/>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3519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a:t>Datathon Schedule</a:t>
            </a:r>
          </a:p>
        </p:txBody>
      </p:sp>
      <p:sp>
        <p:nvSpPr>
          <p:cNvPr id="4" name="Content Placeholder 3">
            <a:extLst>
              <a:ext uri="{FF2B5EF4-FFF2-40B4-BE49-F238E27FC236}">
                <a16:creationId xmlns:a16="http://schemas.microsoft.com/office/drawing/2014/main" id="{A3A98AE2-9379-C655-454F-968598EAED95}"/>
              </a:ext>
            </a:extLst>
          </p:cNvPr>
          <p:cNvSpPr>
            <a:spLocks noGrp="1"/>
          </p:cNvSpPr>
          <p:nvPr>
            <p:ph idx="1"/>
          </p:nvPr>
        </p:nvSpPr>
        <p:spPr>
          <a:xfrm>
            <a:off x="834750" y="864363"/>
            <a:ext cx="11263176" cy="5226229"/>
          </a:xfrm>
        </p:spPr>
        <p:txBody>
          <a:bodyPr vert="horz" lIns="91440" tIns="45720" rIns="91440" bIns="45720" rtlCol="0" anchor="t">
            <a:normAutofit fontScale="25000" lnSpcReduction="20000"/>
          </a:bodyPr>
          <a:lstStyle/>
          <a:p>
            <a:pPr marL="0" indent="0" fontAlgn="base">
              <a:buNone/>
            </a:pPr>
            <a:r>
              <a:rPr lang="en-US" sz="8000" b="1" dirty="0">
                <a:solidFill>
                  <a:srgbClr val="333333"/>
                </a:solidFill>
                <a:latin typeface="Bierstadt Display"/>
              </a:rPr>
              <a:t>December 2</a:t>
            </a:r>
            <a:r>
              <a:rPr lang="en-US" sz="8000" b="1" i="0" dirty="0">
                <a:solidFill>
                  <a:srgbClr val="333333"/>
                </a:solidFill>
                <a:effectLst/>
                <a:latin typeface="Bierstadt Display"/>
              </a:rPr>
              <a:t>, 2025 (Noon Zoom Call)</a:t>
            </a:r>
            <a:endParaRPr lang="en-US" sz="8000" b="0" i="0" dirty="0">
              <a:solidFill>
                <a:srgbClr val="333333"/>
              </a:solidFill>
              <a:effectLst/>
              <a:latin typeface="Bierstadt Display"/>
            </a:endParaRPr>
          </a:p>
          <a:p>
            <a:pPr fontAlgn="base"/>
            <a:r>
              <a:rPr lang="en-US" sz="8000" b="0" i="0" dirty="0">
                <a:solidFill>
                  <a:srgbClr val="000000"/>
                </a:solidFill>
                <a:effectLst/>
                <a:latin typeface="Bierstadt Display"/>
              </a:rPr>
              <a:t>Introduction of use cases, data sets, and open-source tools. Meet fellow participants and event sponsors.</a:t>
            </a:r>
          </a:p>
          <a:p>
            <a:pPr marL="0" indent="0">
              <a:buNone/>
            </a:pPr>
            <a:endParaRPr lang="en-US" sz="8000" dirty="0">
              <a:solidFill>
                <a:srgbClr val="000000"/>
              </a:solidFill>
              <a:latin typeface="Bierstadt Display"/>
            </a:endParaRPr>
          </a:p>
          <a:p>
            <a:pPr marL="0" indent="0" algn="l" fontAlgn="base">
              <a:buNone/>
            </a:pPr>
            <a:r>
              <a:rPr lang="en-US" sz="8000" b="1" dirty="0">
                <a:solidFill>
                  <a:srgbClr val="333333"/>
                </a:solidFill>
                <a:latin typeface="Bierstadt Display"/>
              </a:rPr>
              <a:t>January 18, 2026</a:t>
            </a:r>
            <a:endParaRPr lang="en-US" sz="8000" b="0" i="0" dirty="0">
              <a:solidFill>
                <a:srgbClr val="333333"/>
              </a:solidFill>
              <a:effectLst/>
              <a:latin typeface="Bierstadt Display"/>
            </a:endParaRPr>
          </a:p>
          <a:p>
            <a:pPr fontAlgn="base"/>
            <a:r>
              <a:rPr lang="en-US" sz="8000" b="0" i="0" dirty="0">
                <a:solidFill>
                  <a:srgbClr val="000000"/>
                </a:solidFill>
                <a:effectLst/>
                <a:latin typeface="Bierstadt Display"/>
              </a:rPr>
              <a:t>Deadline for teams to submit their </a:t>
            </a:r>
            <a:r>
              <a:rPr lang="en-US" sz="8000" dirty="0">
                <a:solidFill>
                  <a:srgbClr val="000000"/>
                </a:solidFill>
                <a:latin typeface="Bierstadt Display"/>
              </a:rPr>
              <a:t>projects by 11:59 pm ET.</a:t>
            </a:r>
            <a:endParaRPr lang="en-US" sz="8000" b="0" i="0" dirty="0">
              <a:solidFill>
                <a:srgbClr val="000000"/>
              </a:solidFill>
              <a:effectLst/>
              <a:latin typeface="Bierstadt Display"/>
            </a:endParaRPr>
          </a:p>
          <a:p>
            <a:pPr marL="0" indent="0" algn="l" fontAlgn="base">
              <a:buNone/>
            </a:pPr>
            <a:endParaRPr lang="en-US" sz="8000" b="1" i="0" dirty="0">
              <a:solidFill>
                <a:srgbClr val="333333"/>
              </a:solidFill>
              <a:effectLst/>
            </a:endParaRPr>
          </a:p>
          <a:p>
            <a:pPr marL="0" indent="0">
              <a:buNone/>
            </a:pPr>
            <a:r>
              <a:rPr lang="en-US" sz="8000" b="1" dirty="0">
                <a:solidFill>
                  <a:srgbClr val="333333"/>
                </a:solidFill>
                <a:latin typeface="Bierstadt Display"/>
              </a:rPr>
              <a:t>January 20-23, 2026</a:t>
            </a:r>
            <a:endParaRPr lang="en-US" dirty="0"/>
          </a:p>
          <a:p>
            <a:pPr fontAlgn="base"/>
            <a:r>
              <a:rPr lang="en-US" sz="8000" b="0" i="0" dirty="0">
                <a:solidFill>
                  <a:srgbClr val="000000"/>
                </a:solidFill>
                <a:effectLst/>
                <a:latin typeface="Bierstadt Display"/>
              </a:rPr>
              <a:t>Teams virtually present their projects to the </a:t>
            </a:r>
            <a:r>
              <a:rPr lang="en-US" sz="8000" b="0" i="0" dirty="0" err="1">
                <a:solidFill>
                  <a:srgbClr val="000000"/>
                </a:solidFill>
                <a:effectLst/>
                <a:latin typeface="Bierstadt Display"/>
              </a:rPr>
              <a:t>Datathon</a:t>
            </a:r>
            <a:r>
              <a:rPr lang="en-US" sz="8000" b="0" i="0" dirty="0">
                <a:solidFill>
                  <a:srgbClr val="000000"/>
                </a:solidFill>
                <a:effectLst/>
                <a:latin typeface="Bierstadt Display"/>
              </a:rPr>
              <a:t> Technical Committee</a:t>
            </a:r>
            <a:r>
              <a:rPr lang="en-US" sz="8000" dirty="0">
                <a:solidFill>
                  <a:srgbClr val="000000"/>
                </a:solidFill>
                <a:latin typeface="Bierstadt Display"/>
              </a:rPr>
              <a:t> via Zoom</a:t>
            </a:r>
            <a:r>
              <a:rPr lang="en-US" sz="8000" b="0" i="0" dirty="0">
                <a:solidFill>
                  <a:srgbClr val="000000"/>
                </a:solidFill>
                <a:effectLst/>
                <a:latin typeface="Bierstadt Display"/>
              </a:rPr>
              <a:t>.</a:t>
            </a:r>
          </a:p>
          <a:p>
            <a:pPr marL="0" indent="0" algn="l" fontAlgn="base">
              <a:buNone/>
            </a:pPr>
            <a:endParaRPr lang="en-US" sz="8000" b="1" i="0" dirty="0">
              <a:solidFill>
                <a:srgbClr val="333333"/>
              </a:solidFill>
              <a:effectLst/>
            </a:endParaRPr>
          </a:p>
          <a:p>
            <a:pPr marL="0" indent="0" fontAlgn="base">
              <a:buNone/>
            </a:pPr>
            <a:r>
              <a:rPr lang="en-US" sz="8000" b="1" dirty="0">
                <a:solidFill>
                  <a:srgbClr val="333333"/>
                </a:solidFill>
                <a:latin typeface="Bierstadt Display"/>
              </a:rPr>
              <a:t>January 26, 2026</a:t>
            </a:r>
            <a:endParaRPr lang="en-US" sz="8000" b="0" i="0" dirty="0">
              <a:solidFill>
                <a:srgbClr val="333333"/>
              </a:solidFill>
              <a:effectLst/>
              <a:latin typeface="Bierstadt Display"/>
            </a:endParaRPr>
          </a:p>
          <a:p>
            <a:pPr fontAlgn="base"/>
            <a:r>
              <a:rPr lang="en-US" sz="8000" b="0" i="0" dirty="0">
                <a:solidFill>
                  <a:srgbClr val="000000"/>
                </a:solidFill>
                <a:effectLst/>
              </a:rPr>
              <a:t>Top three teams announced.</a:t>
            </a:r>
          </a:p>
          <a:p>
            <a:pPr fontAlgn="base"/>
            <a:endParaRPr lang="en-US" sz="8000" dirty="0">
              <a:solidFill>
                <a:srgbClr val="000000"/>
              </a:solidFill>
            </a:endParaRPr>
          </a:p>
          <a:p>
            <a:pPr marL="0" indent="0" fontAlgn="base">
              <a:buNone/>
            </a:pPr>
            <a:r>
              <a:rPr lang="en-US" sz="8000" b="1" i="0" dirty="0">
                <a:solidFill>
                  <a:srgbClr val="000000"/>
                </a:solidFill>
                <a:effectLst/>
                <a:latin typeface="Bierstadt Display"/>
              </a:rPr>
              <a:t>February </a:t>
            </a:r>
            <a:r>
              <a:rPr lang="en-US" sz="8000" b="1" dirty="0">
                <a:solidFill>
                  <a:srgbClr val="000000"/>
                </a:solidFill>
                <a:latin typeface="Bierstadt Display"/>
              </a:rPr>
              <a:t>18</a:t>
            </a:r>
            <a:r>
              <a:rPr lang="en-US" sz="8000" b="1" i="0" dirty="0">
                <a:solidFill>
                  <a:srgbClr val="000000"/>
                </a:solidFill>
                <a:effectLst/>
                <a:latin typeface="Bierstadt Display"/>
              </a:rPr>
              <a:t>, </a:t>
            </a:r>
            <a:r>
              <a:rPr lang="en-US" sz="8000" b="1" dirty="0">
                <a:solidFill>
                  <a:srgbClr val="000000"/>
                </a:solidFill>
                <a:latin typeface="Bierstadt Display"/>
              </a:rPr>
              <a:t>2026</a:t>
            </a:r>
            <a:endParaRPr lang="en-US" sz="8000" b="1" i="0" dirty="0">
              <a:solidFill>
                <a:srgbClr val="000000"/>
              </a:solidFill>
              <a:effectLst/>
              <a:latin typeface="Bierstadt Display"/>
            </a:endParaRPr>
          </a:p>
          <a:p>
            <a:pPr fontAlgn="base"/>
            <a:r>
              <a:rPr lang="en-US" sz="8000" b="0" i="0" dirty="0">
                <a:solidFill>
                  <a:srgbClr val="000000"/>
                </a:solidFill>
                <a:effectLst/>
              </a:rPr>
              <a:t>Top three teams present their projects at the National Leadership Training Event (NLT) in DC.</a:t>
            </a:r>
          </a:p>
          <a:p>
            <a:pPr fontAlgn="base"/>
            <a:r>
              <a:rPr lang="en-US" sz="8000" dirty="0">
                <a:solidFill>
                  <a:srgbClr val="000000"/>
                </a:solidFill>
              </a:rPr>
              <a:t>All teams invited to attend the NLT and reception. RSVP to </a:t>
            </a:r>
            <a:r>
              <a:rPr lang="en-US" sz="8000" dirty="0">
                <a:solidFill>
                  <a:srgbClr val="000000"/>
                </a:solidFill>
                <a:hlinkClick r:id="rId2"/>
              </a:rPr>
              <a:t>meetings@agacgfm.org</a:t>
            </a:r>
            <a:r>
              <a:rPr lang="en-US" sz="8000" dirty="0">
                <a:solidFill>
                  <a:srgbClr val="000000"/>
                </a:solidFill>
              </a:rPr>
              <a:t>. </a:t>
            </a:r>
            <a:endParaRPr lang="en-US" sz="8000" b="0" i="0" dirty="0">
              <a:solidFill>
                <a:srgbClr val="000000"/>
              </a:solidFill>
              <a:effectLst/>
            </a:endParaRPr>
          </a:p>
          <a:p>
            <a:pPr marL="0" indent="0" fontAlgn="base">
              <a:buNone/>
            </a:pPr>
            <a:endParaRPr lang="en-US" sz="8000" b="0" i="0" dirty="0">
              <a:solidFill>
                <a:srgbClr val="000000"/>
              </a:solidFill>
              <a:effectLst/>
            </a:endParaRPr>
          </a:p>
          <a:p>
            <a:pPr marL="457200" lvl="1" indent="0">
              <a:buNone/>
            </a:pPr>
            <a:endParaRPr lang="en-US" dirty="0"/>
          </a:p>
        </p:txBody>
      </p:sp>
      <p:cxnSp>
        <p:nvCxnSpPr>
          <p:cNvPr id="5" name="Straight Connector 4">
            <a:extLst>
              <a:ext uri="{FF2B5EF4-FFF2-40B4-BE49-F238E27FC236}">
                <a16:creationId xmlns:a16="http://schemas.microsoft.com/office/drawing/2014/main" id="{AD050AB2-D22C-3A31-327A-70CC682083A8}"/>
              </a:ext>
            </a:extLst>
          </p:cNvPr>
          <p:cNvCxnSpPr/>
          <p:nvPr/>
        </p:nvCxnSpPr>
        <p:spPr>
          <a:xfrm>
            <a:off x="921204" y="820511"/>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6020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err="1"/>
              <a:t>Datathon</a:t>
            </a:r>
            <a:r>
              <a:rPr lang="en-US" dirty="0"/>
              <a:t> Use Cases</a:t>
            </a:r>
          </a:p>
        </p:txBody>
      </p:sp>
      <p:sp>
        <p:nvSpPr>
          <p:cNvPr id="4" name="Content Placeholder 3">
            <a:extLst>
              <a:ext uri="{FF2B5EF4-FFF2-40B4-BE49-F238E27FC236}">
                <a16:creationId xmlns:a16="http://schemas.microsoft.com/office/drawing/2014/main" id="{A3A98AE2-9379-C655-454F-968598EAED95}"/>
              </a:ext>
            </a:extLst>
          </p:cNvPr>
          <p:cNvSpPr>
            <a:spLocks noGrp="1"/>
          </p:cNvSpPr>
          <p:nvPr>
            <p:ph idx="1"/>
          </p:nvPr>
        </p:nvSpPr>
        <p:spPr>
          <a:xfrm>
            <a:off x="895350" y="868136"/>
            <a:ext cx="10859771" cy="5380263"/>
          </a:xfrm>
        </p:spPr>
        <p:txBody>
          <a:bodyPr vert="horz" lIns="91440" tIns="45720" rIns="91440" bIns="45720" rtlCol="0" anchor="t">
            <a:noAutofit/>
          </a:bodyPr>
          <a:lstStyle/>
          <a:p>
            <a:pPr>
              <a:buNone/>
            </a:pPr>
            <a:r>
              <a:rPr lang="en-US" sz="1600" b="1" u="sng" dirty="0">
                <a:latin typeface="Bierstadt Display"/>
                <a:cs typeface="Poppins"/>
              </a:rPr>
              <a:t>Social Impact of Government Programs</a:t>
            </a:r>
            <a:endParaRPr lang="en-US" sz="1600">
              <a:latin typeface="Bierstadt Display"/>
            </a:endParaRPr>
          </a:p>
          <a:p>
            <a:pPr>
              <a:buNone/>
            </a:pPr>
            <a:r>
              <a:rPr lang="en-US" sz="1600" b="1" dirty="0">
                <a:latin typeface="Bierstadt Display"/>
                <a:cs typeface="Poppins"/>
              </a:rPr>
              <a:t>Challenge:</a:t>
            </a:r>
            <a:r>
              <a:rPr lang="en-US" sz="1600" dirty="0">
                <a:latin typeface="Bierstadt Display"/>
                <a:cs typeface="Poppins"/>
              </a:rPr>
              <a:t> Analyze the relationship between government spending on specific programs (e.g., Social Security, Medicaid) and social indicators like poverty rates, unemployment, or access to healthcare.</a:t>
            </a:r>
            <a:endParaRPr lang="en-US" sz="1600">
              <a:latin typeface="Bierstadt Display"/>
            </a:endParaRPr>
          </a:p>
          <a:p>
            <a:pPr>
              <a:buNone/>
            </a:pPr>
            <a:r>
              <a:rPr lang="en-US" sz="1600" b="1" dirty="0">
                <a:latin typeface="Bierstadt Display"/>
                <a:cs typeface="Poppins"/>
              </a:rPr>
              <a:t>Goal/Objective:</a:t>
            </a:r>
            <a:r>
              <a:rPr lang="en-US" sz="1600" dirty="0">
                <a:latin typeface="Bierstadt Display"/>
                <a:cs typeface="Poppins"/>
              </a:rPr>
              <a:t> Identify which programs deliver the highest return on investment in terms of societal benefit.</a:t>
            </a:r>
            <a:endParaRPr lang="en-US" sz="1600">
              <a:latin typeface="Bierstadt Display"/>
            </a:endParaRPr>
          </a:p>
          <a:p>
            <a:pPr>
              <a:buNone/>
            </a:pPr>
            <a:endParaRPr lang="en-US" sz="1600" b="1" u="sng" dirty="0">
              <a:latin typeface="Bierstadt Display"/>
              <a:cs typeface="Poppins"/>
            </a:endParaRPr>
          </a:p>
          <a:p>
            <a:pPr>
              <a:buNone/>
            </a:pPr>
            <a:r>
              <a:rPr lang="en-US" sz="1600" b="1" u="sng" dirty="0">
                <a:latin typeface="Bierstadt Display"/>
                <a:cs typeface="Poppins"/>
              </a:rPr>
              <a:t>Promote Financial Literacy: Visualizing Government Expenditures</a:t>
            </a:r>
            <a:endParaRPr lang="en-US" sz="1600">
              <a:latin typeface="Bierstadt Display"/>
            </a:endParaRPr>
          </a:p>
          <a:p>
            <a:pPr>
              <a:buNone/>
            </a:pPr>
            <a:r>
              <a:rPr lang="en-US" sz="1600" b="1" dirty="0">
                <a:latin typeface="Bierstadt Display"/>
                <a:cs typeface="Poppins"/>
              </a:rPr>
              <a:t>Challenge:</a:t>
            </a:r>
            <a:r>
              <a:rPr lang="en-US" sz="1600" dirty="0">
                <a:latin typeface="Bierstadt Display"/>
                <a:cs typeface="Poppins"/>
              </a:rPr>
              <a:t> Develop innovative and interactive visualizations using data from sources like FiscalData.Treasury.gov and usaspending.gov to make government spending more understandable for the public.</a:t>
            </a:r>
            <a:endParaRPr lang="en-US" sz="1600">
              <a:latin typeface="Bierstadt Display"/>
            </a:endParaRPr>
          </a:p>
          <a:p>
            <a:pPr>
              <a:buNone/>
            </a:pPr>
            <a:r>
              <a:rPr lang="en-US" sz="1600" b="1" dirty="0">
                <a:latin typeface="Bierstadt Display"/>
                <a:cs typeface="Poppins"/>
              </a:rPr>
              <a:t>Goal/Objective:</a:t>
            </a:r>
            <a:r>
              <a:rPr lang="en-US" sz="1600" dirty="0">
                <a:latin typeface="Bierstadt Display"/>
                <a:cs typeface="Poppins"/>
              </a:rPr>
              <a:t> Promote financial literacy and increase engagement with government-focused datasets.</a:t>
            </a:r>
            <a:endParaRPr lang="en-US" sz="1600">
              <a:latin typeface="Bierstadt Display"/>
            </a:endParaRPr>
          </a:p>
          <a:p>
            <a:pPr>
              <a:buNone/>
            </a:pPr>
            <a:endParaRPr lang="en-US" sz="1600" b="1" u="sng" dirty="0">
              <a:latin typeface="Bierstadt Display"/>
              <a:cs typeface="Poppins"/>
            </a:endParaRPr>
          </a:p>
          <a:p>
            <a:pPr>
              <a:buNone/>
            </a:pPr>
            <a:r>
              <a:rPr lang="en-US" sz="1600" b="1" u="sng" dirty="0">
                <a:latin typeface="Bierstadt Display"/>
                <a:cs typeface="Poppins"/>
              </a:rPr>
              <a:t>Government Program Actions Over Time</a:t>
            </a:r>
            <a:endParaRPr lang="en-US" sz="1600">
              <a:latin typeface="Bierstadt Display"/>
            </a:endParaRPr>
          </a:p>
          <a:p>
            <a:pPr>
              <a:buNone/>
            </a:pPr>
            <a:r>
              <a:rPr lang="en-US" sz="1600" b="1" dirty="0">
                <a:latin typeface="Bierstadt Display"/>
                <a:cs typeface="Poppins"/>
              </a:rPr>
              <a:t>Challenge:</a:t>
            </a:r>
            <a:r>
              <a:rPr lang="en-US" sz="1600" dirty="0">
                <a:latin typeface="Bierstadt Display"/>
                <a:cs typeface="Poppins"/>
              </a:rPr>
              <a:t> Compare government actions such as appropriations, laws, executive orders, etc., and the results of those actions over a period of time (e.g., since a change in administration, over the last six months/year)</a:t>
            </a:r>
            <a:endParaRPr lang="en-US" sz="1600">
              <a:latin typeface="Bierstadt Display"/>
            </a:endParaRPr>
          </a:p>
          <a:p>
            <a:pPr>
              <a:buNone/>
            </a:pPr>
            <a:r>
              <a:rPr lang="en-US" sz="1600" b="1" dirty="0">
                <a:latin typeface="Bierstadt Display"/>
                <a:cs typeface="Poppins"/>
              </a:rPr>
              <a:t>Goal/Objective: </a:t>
            </a:r>
            <a:r>
              <a:rPr lang="en-US" sz="1600" dirty="0">
                <a:latin typeface="Bierstadt Display"/>
                <a:cs typeface="Poppins"/>
              </a:rPr>
              <a:t>Provide fact-based input and analysis on government actions and their progress or lack of progress, and results.</a:t>
            </a:r>
            <a:endParaRPr lang="en-US" sz="1600">
              <a:latin typeface="Bierstadt Display"/>
            </a:endParaRPr>
          </a:p>
          <a:p>
            <a:pPr marL="0" indent="0" algn="l">
              <a:lnSpc>
                <a:spcPct val="100000"/>
              </a:lnSpc>
              <a:spcBef>
                <a:spcPts val="0"/>
              </a:spcBef>
              <a:buNone/>
            </a:pPr>
            <a:endParaRPr lang="en-US" sz="1700" dirty="0"/>
          </a:p>
        </p:txBody>
      </p:sp>
      <p:cxnSp>
        <p:nvCxnSpPr>
          <p:cNvPr id="3" name="Straight Connector 2">
            <a:extLst>
              <a:ext uri="{FF2B5EF4-FFF2-40B4-BE49-F238E27FC236}">
                <a16:creationId xmlns:a16="http://schemas.microsoft.com/office/drawing/2014/main" id="{459899E8-6FAC-AFE0-4EB7-5842CA040A83}"/>
              </a:ext>
            </a:extLst>
          </p:cNvPr>
          <p:cNvCxnSpPr/>
          <p:nvPr/>
        </p:nvCxnSpPr>
        <p:spPr>
          <a:xfrm>
            <a:off x="838200" y="86813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2705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err="1">
                <a:latin typeface="Bierstadt Display"/>
              </a:rPr>
              <a:t>Github</a:t>
            </a:r>
            <a:r>
              <a:rPr lang="en-US" dirty="0">
                <a:latin typeface="Bierstadt Display"/>
              </a:rPr>
              <a:t> AGA-Datathon-2026</a:t>
            </a:r>
            <a:endParaRPr lang="en-US" dirty="0"/>
          </a:p>
        </p:txBody>
      </p:sp>
      <p:sp>
        <p:nvSpPr>
          <p:cNvPr id="4" name="Content Placeholder 3">
            <a:extLst>
              <a:ext uri="{FF2B5EF4-FFF2-40B4-BE49-F238E27FC236}">
                <a16:creationId xmlns:a16="http://schemas.microsoft.com/office/drawing/2014/main" id="{A3A98AE2-9379-C655-454F-968598EAED95}"/>
              </a:ext>
            </a:extLst>
          </p:cNvPr>
          <p:cNvSpPr>
            <a:spLocks noGrp="1"/>
          </p:cNvSpPr>
          <p:nvPr>
            <p:ph idx="1"/>
          </p:nvPr>
        </p:nvSpPr>
        <p:spPr>
          <a:xfrm>
            <a:off x="771525" y="1166812"/>
            <a:ext cx="10591800" cy="4524375"/>
          </a:xfrm>
        </p:spPr>
        <p:txBody>
          <a:bodyPr vert="horz" lIns="91440" tIns="45720" rIns="91440" bIns="45720" rtlCol="0" anchor="t">
            <a:normAutofit/>
          </a:bodyPr>
          <a:lstStyle/>
          <a:p>
            <a:pPr marL="0" indent="0" algn="l" fontAlgn="base">
              <a:buNone/>
            </a:pPr>
            <a:r>
              <a:rPr lang="en-US" dirty="0">
                <a:latin typeface="Bierstadt Display"/>
              </a:rPr>
              <a:t>Team Leads will be invited as Team Members</a:t>
            </a:r>
          </a:p>
          <a:p>
            <a:pPr fontAlgn="base"/>
            <a:r>
              <a:rPr lang="en-US" dirty="0"/>
              <a:t>All activity will be performed on the site</a:t>
            </a:r>
          </a:p>
          <a:p>
            <a:pPr fontAlgn="base"/>
            <a:r>
              <a:rPr lang="en-US" dirty="0">
                <a:latin typeface="Bierstadt Display"/>
              </a:rPr>
              <a:t>All materials will be posted on the site </a:t>
            </a:r>
          </a:p>
          <a:p>
            <a:r>
              <a:rPr lang="en-US" dirty="0">
                <a:latin typeface="Bierstadt Display"/>
                <a:ea typeface="MS PGothic"/>
              </a:rPr>
              <a:t>Links will be sent on December 8th by 5pm ET</a:t>
            </a:r>
            <a:endParaRPr lang="en-US" dirty="0">
              <a:ea typeface="MS PGothic" panose="020B0600070205080204" pitchFamily="34" charset="-128"/>
            </a:endParaRPr>
          </a:p>
          <a:p>
            <a:pPr fontAlgn="base"/>
            <a:endParaRPr lang="en-US" dirty="0">
              <a:ea typeface="MS PGothic" panose="020B0600070205080204" pitchFamily="34" charset="-128"/>
            </a:endParaRPr>
          </a:p>
        </p:txBody>
      </p:sp>
      <p:cxnSp>
        <p:nvCxnSpPr>
          <p:cNvPr id="3" name="Straight Connector 2">
            <a:extLst>
              <a:ext uri="{FF2B5EF4-FFF2-40B4-BE49-F238E27FC236}">
                <a16:creationId xmlns:a16="http://schemas.microsoft.com/office/drawing/2014/main" id="{459899E8-6FAC-AFE0-4EB7-5842CA040A83}"/>
              </a:ext>
            </a:extLst>
          </p:cNvPr>
          <p:cNvCxnSpPr/>
          <p:nvPr/>
        </p:nvCxnSpPr>
        <p:spPr>
          <a:xfrm>
            <a:off x="838200" y="86813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3010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a:t>Allowable Data Sources</a:t>
            </a:r>
          </a:p>
        </p:txBody>
      </p:sp>
      <p:sp>
        <p:nvSpPr>
          <p:cNvPr id="4" name="Content Placeholder 3">
            <a:extLst>
              <a:ext uri="{FF2B5EF4-FFF2-40B4-BE49-F238E27FC236}">
                <a16:creationId xmlns:a16="http://schemas.microsoft.com/office/drawing/2014/main" id="{A3A98AE2-9379-C655-454F-968598EAED95}"/>
              </a:ext>
            </a:extLst>
          </p:cNvPr>
          <p:cNvSpPr>
            <a:spLocks noGrp="1"/>
          </p:cNvSpPr>
          <p:nvPr>
            <p:ph idx="1"/>
          </p:nvPr>
        </p:nvSpPr>
        <p:spPr>
          <a:xfrm>
            <a:off x="838199" y="952500"/>
            <a:ext cx="10525125" cy="4738687"/>
          </a:xfrm>
        </p:spPr>
        <p:txBody>
          <a:bodyPr>
            <a:normAutofit fontScale="47500" lnSpcReduction="20000"/>
          </a:bodyPr>
          <a:lstStyle/>
          <a:p>
            <a:pPr marL="0" indent="0" algn="l" fontAlgn="base">
              <a:buNone/>
            </a:pPr>
            <a:r>
              <a:rPr lang="en-US" dirty="0"/>
              <a:t>Only the approved data sources can be used.  In addition to the following allowable public data sources, if a team finds a resource they want to utilize, ask for approval and if approved, it will be shared with all teams:</a:t>
            </a:r>
          </a:p>
          <a:p>
            <a:pPr fontAlgn="base"/>
            <a:r>
              <a:rPr lang="en-US" dirty="0"/>
              <a:t>Analytics.usa.gov</a:t>
            </a:r>
          </a:p>
          <a:p>
            <a:pPr fontAlgn="base"/>
            <a:r>
              <a:rPr lang="en-US" dirty="0"/>
              <a:t>Census Data:  </a:t>
            </a:r>
            <a:r>
              <a:rPr lang="en-US" dirty="0">
                <a:hlinkClick r:id="rId2"/>
              </a:rPr>
              <a:t>https://www.census.gov/data.html</a:t>
            </a:r>
            <a:endParaRPr lang="en-US" dirty="0"/>
          </a:p>
          <a:p>
            <a:pPr fontAlgn="base"/>
            <a:r>
              <a:rPr lang="en-US" sz="2900" dirty="0">
                <a:effectLst/>
                <a:ea typeface="Aptos" panose="020B0004020202020204" pitchFamily="34" charset="0"/>
                <a:cs typeface="Aptos" panose="020B0004020202020204" pitchFamily="34" charset="0"/>
              </a:rPr>
              <a:t>Recipient Entity Details: </a:t>
            </a:r>
            <a:r>
              <a:rPr lang="en-US" sz="2900" u="sng" dirty="0">
                <a:solidFill>
                  <a:srgbClr val="0563C1"/>
                </a:solidFill>
                <a:effectLst/>
                <a:ea typeface="Aptos" panose="020B0004020202020204" pitchFamily="34" charset="0"/>
                <a:cs typeface="Aptos" panose="020B0004020202020204" pitchFamily="34" charset="0"/>
                <a:hlinkClick r:id="rId3"/>
              </a:rPr>
              <a:t>SAM</a:t>
            </a:r>
            <a:r>
              <a:rPr lang="en-US" sz="2900" u="sng">
                <a:solidFill>
                  <a:srgbClr val="0563C1"/>
                </a:solidFill>
                <a:effectLst/>
                <a:ea typeface="Aptos" panose="020B0004020202020204" pitchFamily="34" charset="0"/>
                <a:cs typeface="Aptos" panose="020B0004020202020204" pitchFamily="34" charset="0"/>
                <a:hlinkClick r:id="rId3"/>
              </a:rPr>
              <a:t>.gov</a:t>
            </a:r>
            <a:endParaRPr lang="en-US" sz="2900" u="sng" dirty="0">
              <a:solidFill>
                <a:srgbClr val="0563C1"/>
              </a:solidFill>
              <a:ea typeface="Aptos" panose="020B0004020202020204" pitchFamily="34" charset="0"/>
              <a:cs typeface="Aptos" panose="020B0004020202020204" pitchFamily="34" charset="0"/>
            </a:endParaRPr>
          </a:p>
          <a:p>
            <a:pPr fontAlgn="base"/>
            <a:r>
              <a:rPr lang="en-US" sz="2900">
                <a:effectLst/>
                <a:ea typeface="Aptos" panose="020B0004020202020204" pitchFamily="34" charset="0"/>
                <a:cs typeface="Aptos" panose="020B0004020202020204" pitchFamily="34" charset="0"/>
              </a:rPr>
              <a:t>IRS </a:t>
            </a:r>
            <a:r>
              <a:rPr lang="en-US" sz="2900" dirty="0">
                <a:effectLst/>
                <a:ea typeface="Aptos" panose="020B0004020202020204" pitchFamily="34" charset="0"/>
                <a:cs typeface="Aptos" panose="020B0004020202020204" pitchFamily="34" charset="0"/>
              </a:rPr>
              <a:t>990 Submissions: </a:t>
            </a:r>
            <a:r>
              <a:rPr lang="en-US" sz="2900" u="sng" dirty="0">
                <a:solidFill>
                  <a:srgbClr val="0563C1"/>
                </a:solidFill>
                <a:effectLst/>
                <a:ea typeface="Aptos" panose="020B0004020202020204" pitchFamily="34" charset="0"/>
                <a:cs typeface="Aptos" panose="020B0004020202020204" pitchFamily="34" charset="0"/>
                <a:hlinkClick r:id="rId4"/>
              </a:rPr>
              <a:t>Form 990 Series Downloads</a:t>
            </a:r>
            <a:endParaRPr lang="en-US" sz="2900" dirty="0">
              <a:effectLst/>
              <a:ea typeface="Aptos" panose="020B0004020202020204" pitchFamily="34" charset="0"/>
              <a:cs typeface="Aptos" panose="020B0004020202020204" pitchFamily="34" charset="0"/>
            </a:endParaRPr>
          </a:p>
          <a:p>
            <a:pPr fontAlgn="base"/>
            <a:r>
              <a:rPr lang="en-US" dirty="0"/>
              <a:t>Bureau of Labor Statistics:  </a:t>
            </a:r>
            <a:r>
              <a:rPr lang="en-US" dirty="0">
                <a:hlinkClick r:id="rId5"/>
              </a:rPr>
              <a:t>https://www.bls.gov/</a:t>
            </a:r>
            <a:endParaRPr lang="en-US" dirty="0"/>
          </a:p>
          <a:p>
            <a:pPr fontAlgn="base"/>
            <a:r>
              <a:rPr lang="en-US" dirty="0"/>
              <a:t>DATA.gov</a:t>
            </a:r>
          </a:p>
          <a:p>
            <a:pPr fontAlgn="base"/>
            <a:r>
              <a:rPr lang="en-US" dirty="0"/>
              <a:t>Resources.data.gov</a:t>
            </a:r>
          </a:p>
          <a:p>
            <a:pPr fontAlgn="base"/>
            <a:r>
              <a:rPr lang="en-US" dirty="0"/>
              <a:t>USApending.gov:  </a:t>
            </a:r>
            <a:r>
              <a:rPr lang="en-US" dirty="0">
                <a:hlinkClick r:id="rId6"/>
              </a:rPr>
              <a:t>https://www.usaspending.gov/</a:t>
            </a:r>
            <a:endParaRPr lang="en-US" dirty="0"/>
          </a:p>
          <a:p>
            <a:pPr fontAlgn="base"/>
            <a:r>
              <a:rPr lang="en-US" dirty="0"/>
              <a:t>Pandemic Oversight:  Data &amp; Interactive Tools | Pandemic Oversight</a:t>
            </a:r>
          </a:p>
          <a:p>
            <a:pPr fontAlgn="base"/>
            <a:r>
              <a:rPr lang="en-US" dirty="0"/>
              <a:t>Data.cdc.gov</a:t>
            </a:r>
          </a:p>
          <a:p>
            <a:pPr fontAlgn="base"/>
            <a:r>
              <a:rPr lang="en-US" sz="2900" dirty="0">
                <a:solidFill>
                  <a:srgbClr val="000000"/>
                </a:solidFill>
                <a:effectLst/>
                <a:ea typeface="MS PGothic" panose="020B0600070205080204" pitchFamily="34" charset="-128"/>
              </a:rPr>
              <a:t>FiscalData.Treasury.gov </a:t>
            </a:r>
            <a:endParaRPr lang="en-US" sz="2900" dirty="0"/>
          </a:p>
          <a:p>
            <a:pPr fontAlgn="base"/>
            <a:r>
              <a:rPr lang="en-US" dirty="0"/>
              <a:t>Head Start location data: </a:t>
            </a:r>
            <a:r>
              <a:rPr lang="en-US" dirty="0">
                <a:hlinkClick r:id="rId7"/>
              </a:rPr>
              <a:t>https://eclkc.ohs.acf.hhs.gov/about-us/article/head-start-center-location-datasets</a:t>
            </a:r>
            <a:endParaRPr lang="en-US" dirty="0"/>
          </a:p>
          <a:p>
            <a:pPr fontAlgn="base"/>
            <a:r>
              <a:rPr lang="en-US" dirty="0"/>
              <a:t>Child Care and Development Fund (CCDF) data: </a:t>
            </a:r>
            <a:r>
              <a:rPr lang="en-US" dirty="0">
                <a:hlinkClick r:id="rId8"/>
              </a:rPr>
              <a:t>https://www.acf.hhs.gov/occ/data/fy-2020-ccdf-data-tables-preliminary</a:t>
            </a:r>
            <a:endParaRPr lang="en-US" dirty="0"/>
          </a:p>
          <a:p>
            <a:pPr fontAlgn="base"/>
            <a:r>
              <a:rPr lang="en-US" dirty="0"/>
              <a:t>Temporary Assistance for Needy Families (TANF):  </a:t>
            </a:r>
            <a:r>
              <a:rPr lang="en-US" dirty="0">
                <a:hlinkClick r:id="rId9"/>
              </a:rPr>
              <a:t>https://www.acf.hhs.gov/ofa/programs/tanf/data-reports</a:t>
            </a:r>
            <a:endParaRPr lang="en-US" dirty="0"/>
          </a:p>
          <a:p>
            <a:pPr fontAlgn="base"/>
            <a:r>
              <a:rPr lang="en-US" dirty="0"/>
              <a:t>The Low Income Home Energy Assistance Program (LIHEAP):   https://liheappm.acf.hhs.gov/datawarehouse</a:t>
            </a:r>
          </a:p>
          <a:p>
            <a:pPr marL="0" indent="0" algn="l" fontAlgn="base">
              <a:buNone/>
            </a:pPr>
            <a:endParaRPr lang="en-US" dirty="0"/>
          </a:p>
        </p:txBody>
      </p:sp>
      <p:cxnSp>
        <p:nvCxnSpPr>
          <p:cNvPr id="3" name="Straight Connector 2">
            <a:extLst>
              <a:ext uri="{FF2B5EF4-FFF2-40B4-BE49-F238E27FC236}">
                <a16:creationId xmlns:a16="http://schemas.microsoft.com/office/drawing/2014/main" id="{459899E8-6FAC-AFE0-4EB7-5842CA040A83}"/>
              </a:ext>
            </a:extLst>
          </p:cNvPr>
          <p:cNvCxnSpPr/>
          <p:nvPr/>
        </p:nvCxnSpPr>
        <p:spPr>
          <a:xfrm>
            <a:off x="838200" y="86813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5769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a:t>Project Development Rules</a:t>
            </a:r>
          </a:p>
        </p:txBody>
      </p:sp>
      <p:sp>
        <p:nvSpPr>
          <p:cNvPr id="4" name="Content Placeholder 3">
            <a:extLst>
              <a:ext uri="{FF2B5EF4-FFF2-40B4-BE49-F238E27FC236}">
                <a16:creationId xmlns:a16="http://schemas.microsoft.com/office/drawing/2014/main" id="{A3A98AE2-9379-C655-454F-968598EAED95}"/>
              </a:ext>
            </a:extLst>
          </p:cNvPr>
          <p:cNvSpPr>
            <a:spLocks noGrp="1"/>
          </p:cNvSpPr>
          <p:nvPr>
            <p:ph idx="1"/>
          </p:nvPr>
        </p:nvSpPr>
        <p:spPr>
          <a:xfrm>
            <a:off x="756284" y="952500"/>
            <a:ext cx="10921365" cy="4962523"/>
          </a:xfrm>
        </p:spPr>
        <p:txBody>
          <a:bodyPr>
            <a:normAutofit fontScale="40000" lnSpcReduction="20000"/>
          </a:bodyPr>
          <a:lstStyle/>
          <a:p>
            <a:pPr algn="l" fontAlgn="base">
              <a:lnSpc>
                <a:spcPct val="120000"/>
              </a:lnSpc>
              <a:spcBef>
                <a:spcPts val="0"/>
              </a:spcBef>
              <a:buFont typeface="Arial" panose="020B0604020202020204" pitchFamily="34" charset="0"/>
              <a:buChar char="•"/>
            </a:pPr>
            <a:r>
              <a:rPr lang="en-US" sz="5500" b="0" i="0" dirty="0">
                <a:solidFill>
                  <a:srgbClr val="000000"/>
                </a:solidFill>
                <a:effectLst/>
              </a:rPr>
              <a:t>Any software development tools, game engine, IDE, and/or programming language can be used for the event. If a team member uses a purchased tool licensed to him or her and the license is not transferable to other members, the member’s team must choose one available to all developer teams.</a:t>
            </a:r>
          </a:p>
          <a:p>
            <a:pPr algn="l" fontAlgn="base">
              <a:lnSpc>
                <a:spcPct val="120000"/>
              </a:lnSpc>
              <a:spcBef>
                <a:spcPts val="0"/>
              </a:spcBef>
              <a:buFont typeface="Arial" panose="020B0604020202020204" pitchFamily="34" charset="0"/>
              <a:buChar char="•"/>
            </a:pPr>
            <a:r>
              <a:rPr lang="en-US" sz="5500" b="0" i="0" dirty="0">
                <a:solidFill>
                  <a:srgbClr val="000000"/>
                </a:solidFill>
                <a:effectLst/>
              </a:rPr>
              <a:t>To ensure a level field for all contestants, all code must be created only at the </a:t>
            </a:r>
            <a:r>
              <a:rPr lang="en-US" sz="5500" dirty="0">
                <a:solidFill>
                  <a:srgbClr val="000000"/>
                </a:solidFill>
              </a:rPr>
              <a:t>D</a:t>
            </a:r>
            <a:r>
              <a:rPr lang="en-US" sz="5500" b="0" i="0" dirty="0">
                <a:solidFill>
                  <a:srgbClr val="000000"/>
                </a:solidFill>
                <a:effectLst/>
              </a:rPr>
              <a:t>atathon. You are permitted to use publicly developed and openly licensed API’s and SDKs for your project.</a:t>
            </a:r>
          </a:p>
          <a:p>
            <a:pPr algn="l" fontAlgn="base">
              <a:lnSpc>
                <a:spcPct val="120000"/>
              </a:lnSpc>
              <a:spcBef>
                <a:spcPts val="0"/>
              </a:spcBef>
              <a:buFont typeface="Arial" panose="020B0604020202020204" pitchFamily="34" charset="0"/>
              <a:buChar char="•"/>
            </a:pPr>
            <a:r>
              <a:rPr lang="en-US" sz="5500" b="0" i="0" dirty="0">
                <a:solidFill>
                  <a:srgbClr val="000000"/>
                </a:solidFill>
                <a:effectLst/>
              </a:rPr>
              <a:t>You will only be able to use a pre-public release of a product in developing your project if you bring at least one extra version that can be used by other teams in Datathon and provide any user support needed to teams using the device.</a:t>
            </a:r>
          </a:p>
          <a:p>
            <a:pPr algn="l" fontAlgn="base">
              <a:lnSpc>
                <a:spcPct val="120000"/>
              </a:lnSpc>
              <a:spcBef>
                <a:spcPts val="0"/>
              </a:spcBef>
              <a:buFont typeface="Arial" panose="020B0604020202020204" pitchFamily="34" charset="0"/>
              <a:buChar char="•"/>
            </a:pPr>
            <a:r>
              <a:rPr lang="en-US" sz="5500" b="0" i="0" dirty="0">
                <a:solidFill>
                  <a:srgbClr val="000000"/>
                </a:solidFill>
                <a:effectLst/>
              </a:rPr>
              <a:t>Project design/assets can be created prior to the start date of the </a:t>
            </a:r>
            <a:r>
              <a:rPr lang="en-US" sz="5500" dirty="0">
                <a:solidFill>
                  <a:srgbClr val="000000"/>
                </a:solidFill>
              </a:rPr>
              <a:t>D</a:t>
            </a:r>
            <a:r>
              <a:rPr lang="en-US" sz="5500" b="0" i="0" dirty="0">
                <a:solidFill>
                  <a:srgbClr val="000000"/>
                </a:solidFill>
                <a:effectLst/>
              </a:rPr>
              <a:t>atathon. All assets should conform to the Creative Commons License agreement standard or are freely available and you have permission or license to use them. Proof of permission must be given upon request.</a:t>
            </a:r>
          </a:p>
          <a:p>
            <a:pPr algn="l" fontAlgn="base">
              <a:lnSpc>
                <a:spcPct val="120000"/>
              </a:lnSpc>
              <a:spcBef>
                <a:spcPts val="0"/>
              </a:spcBef>
              <a:buFont typeface="Arial" panose="020B0604020202020204" pitchFamily="34" charset="0"/>
              <a:buChar char="•"/>
            </a:pPr>
            <a:r>
              <a:rPr lang="en-US" sz="5500" b="0" i="0" dirty="0">
                <a:solidFill>
                  <a:srgbClr val="000000"/>
                </a:solidFill>
                <a:effectLst/>
              </a:rPr>
              <a:t>Assets, SDKs, APIs or other tools or components available under a trial license may be used.</a:t>
            </a:r>
          </a:p>
          <a:p>
            <a:pPr marL="0" indent="0" algn="l" fontAlgn="base">
              <a:buNone/>
            </a:pPr>
            <a:endParaRPr lang="en-US" dirty="0"/>
          </a:p>
        </p:txBody>
      </p:sp>
      <p:cxnSp>
        <p:nvCxnSpPr>
          <p:cNvPr id="3" name="Straight Connector 2">
            <a:extLst>
              <a:ext uri="{FF2B5EF4-FFF2-40B4-BE49-F238E27FC236}">
                <a16:creationId xmlns:a16="http://schemas.microsoft.com/office/drawing/2014/main" id="{459899E8-6FAC-AFE0-4EB7-5842CA040A83}"/>
              </a:ext>
            </a:extLst>
          </p:cNvPr>
          <p:cNvCxnSpPr/>
          <p:nvPr/>
        </p:nvCxnSpPr>
        <p:spPr>
          <a:xfrm>
            <a:off x="838200" y="86813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2270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98015-0A43-E6D3-7F2B-BAC07B8FC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98FAE-4C8D-CC35-599C-224667D5BEF4}"/>
              </a:ext>
            </a:extLst>
          </p:cNvPr>
          <p:cNvSpPr>
            <a:spLocks noGrp="1"/>
          </p:cNvSpPr>
          <p:nvPr>
            <p:ph type="title"/>
          </p:nvPr>
        </p:nvSpPr>
        <p:spPr>
          <a:xfrm>
            <a:off x="838200" y="193675"/>
            <a:ext cx="10458450" cy="758825"/>
          </a:xfrm>
        </p:spPr>
        <p:txBody>
          <a:bodyPr/>
          <a:lstStyle/>
          <a:p>
            <a:r>
              <a:rPr lang="en-US" dirty="0"/>
              <a:t>Project Development Rules (cont’d)</a:t>
            </a:r>
          </a:p>
        </p:txBody>
      </p:sp>
      <p:sp>
        <p:nvSpPr>
          <p:cNvPr id="4" name="Content Placeholder 3">
            <a:extLst>
              <a:ext uri="{FF2B5EF4-FFF2-40B4-BE49-F238E27FC236}">
                <a16:creationId xmlns:a16="http://schemas.microsoft.com/office/drawing/2014/main" id="{BCBBC09B-EA95-729A-B859-3B40D3A061F2}"/>
              </a:ext>
            </a:extLst>
          </p:cNvPr>
          <p:cNvSpPr>
            <a:spLocks noGrp="1"/>
          </p:cNvSpPr>
          <p:nvPr>
            <p:ph idx="1"/>
          </p:nvPr>
        </p:nvSpPr>
        <p:spPr>
          <a:xfrm>
            <a:off x="756284" y="952500"/>
            <a:ext cx="10921365" cy="4962523"/>
          </a:xfrm>
        </p:spPr>
        <p:txBody>
          <a:bodyPr>
            <a:normAutofit fontScale="40000" lnSpcReduction="20000"/>
          </a:bodyPr>
          <a:lstStyle/>
          <a:p>
            <a:pPr algn="l" fontAlgn="base">
              <a:lnSpc>
                <a:spcPct val="120000"/>
              </a:lnSpc>
              <a:spcBef>
                <a:spcPts val="0"/>
              </a:spcBef>
              <a:buFont typeface="Arial" panose="020B0604020202020204" pitchFamily="34" charset="0"/>
              <a:buChar char="•"/>
            </a:pPr>
            <a:r>
              <a:rPr lang="en-US" sz="5500" b="0" i="0" dirty="0">
                <a:solidFill>
                  <a:srgbClr val="000000"/>
                </a:solidFill>
                <a:effectLst/>
              </a:rPr>
              <a:t>A team can submit only one entry for the </a:t>
            </a:r>
            <a:r>
              <a:rPr lang="en-US" sz="5500" dirty="0">
                <a:solidFill>
                  <a:srgbClr val="000000"/>
                </a:solidFill>
              </a:rPr>
              <a:t>D</a:t>
            </a:r>
            <a:r>
              <a:rPr lang="en-US" sz="5500" b="0" i="0" dirty="0">
                <a:solidFill>
                  <a:srgbClr val="000000"/>
                </a:solidFill>
                <a:effectLst/>
              </a:rPr>
              <a:t>atathon. Participation at the </a:t>
            </a:r>
            <a:r>
              <a:rPr lang="en-US" sz="5500" dirty="0">
                <a:solidFill>
                  <a:srgbClr val="000000"/>
                </a:solidFill>
              </a:rPr>
              <a:t>D</a:t>
            </a:r>
            <a:r>
              <a:rPr lang="en-US" sz="5500" b="0" i="0" dirty="0">
                <a:solidFill>
                  <a:srgbClr val="000000"/>
                </a:solidFill>
                <a:effectLst/>
              </a:rPr>
              <a:t>atathon is subjected on a “per-team” basis meaning you are not allowed to be on more than one team at the event.</a:t>
            </a:r>
          </a:p>
          <a:p>
            <a:pPr algn="l" fontAlgn="base">
              <a:lnSpc>
                <a:spcPct val="120000"/>
              </a:lnSpc>
              <a:spcBef>
                <a:spcPts val="0"/>
              </a:spcBef>
              <a:buFont typeface="Arial" panose="020B0604020202020204" pitchFamily="34" charset="0"/>
              <a:buChar char="•"/>
            </a:pPr>
            <a:r>
              <a:rPr lang="en-US" sz="5500" b="0" i="0" dirty="0">
                <a:solidFill>
                  <a:srgbClr val="000000"/>
                </a:solidFill>
                <a:effectLst/>
              </a:rPr>
              <a:t>Any intellectual property developed during and within the scope of the </a:t>
            </a:r>
            <a:r>
              <a:rPr lang="en-US" sz="5500" dirty="0">
                <a:solidFill>
                  <a:srgbClr val="000000"/>
                </a:solidFill>
              </a:rPr>
              <a:t>D</a:t>
            </a:r>
            <a:r>
              <a:rPr lang="en-US" sz="5500" b="0" i="0" dirty="0">
                <a:solidFill>
                  <a:srgbClr val="000000"/>
                </a:solidFill>
                <a:effectLst/>
              </a:rPr>
              <a:t>atathon must be open source and licensed under one of the licenses referenced in https://opensource.org/licenses.</a:t>
            </a:r>
          </a:p>
          <a:p>
            <a:pPr algn="l" fontAlgn="base">
              <a:lnSpc>
                <a:spcPct val="120000"/>
              </a:lnSpc>
              <a:spcBef>
                <a:spcPts val="0"/>
              </a:spcBef>
              <a:buFont typeface="Arial" panose="020B0604020202020204" pitchFamily="34" charset="0"/>
              <a:buChar char="•"/>
            </a:pPr>
            <a:r>
              <a:rPr lang="en-US" sz="5500" b="0" i="0" dirty="0">
                <a:solidFill>
                  <a:srgbClr val="000000"/>
                </a:solidFill>
                <a:effectLst/>
              </a:rPr>
              <a:t>The license selected by the team must be clearly listed in code (page per page) or a generic page announcing the license the application adheres to. The public code used inside your application should also list the licenses the code is subjected to.</a:t>
            </a:r>
          </a:p>
          <a:p>
            <a:pPr algn="l" fontAlgn="base">
              <a:lnSpc>
                <a:spcPct val="120000"/>
              </a:lnSpc>
              <a:spcBef>
                <a:spcPts val="0"/>
              </a:spcBef>
              <a:buFont typeface="Arial" panose="020B0604020202020204" pitchFamily="34" charset="0"/>
              <a:buChar char="•"/>
            </a:pPr>
            <a:r>
              <a:rPr lang="en-US" sz="5500" b="0" i="0" dirty="0">
                <a:solidFill>
                  <a:srgbClr val="000000"/>
                </a:solidFill>
                <a:effectLst/>
              </a:rPr>
              <a:t>A team can use multiple licenses in the application. For example, the public code used could be licensed under the Apache license agreement whereas the code written by the team for the application licensed under the MIT license agreement.</a:t>
            </a:r>
          </a:p>
          <a:p>
            <a:pPr algn="l" fontAlgn="base">
              <a:lnSpc>
                <a:spcPct val="120000"/>
              </a:lnSpc>
              <a:spcBef>
                <a:spcPts val="0"/>
              </a:spcBef>
              <a:buFont typeface="Arial" panose="020B0604020202020204" pitchFamily="34" charset="0"/>
              <a:buChar char="•"/>
            </a:pPr>
            <a:r>
              <a:rPr lang="en-US" sz="5500" b="0" i="0" dirty="0">
                <a:solidFill>
                  <a:srgbClr val="000000"/>
                </a:solidFill>
                <a:effectLst/>
              </a:rPr>
              <a:t>A team may not code applications that violate the code of conduct. For example, racially insensitive ideas for an application will automatically be disqualified.</a:t>
            </a:r>
          </a:p>
          <a:p>
            <a:pPr marL="0" indent="0" algn="l" fontAlgn="base">
              <a:buNone/>
            </a:pPr>
            <a:endParaRPr lang="en-US" dirty="0"/>
          </a:p>
        </p:txBody>
      </p:sp>
      <p:cxnSp>
        <p:nvCxnSpPr>
          <p:cNvPr id="3" name="Straight Connector 2">
            <a:extLst>
              <a:ext uri="{FF2B5EF4-FFF2-40B4-BE49-F238E27FC236}">
                <a16:creationId xmlns:a16="http://schemas.microsoft.com/office/drawing/2014/main" id="{D2F24077-FD9A-373D-DB05-78E49D80A14B}"/>
              </a:ext>
            </a:extLst>
          </p:cNvPr>
          <p:cNvCxnSpPr/>
          <p:nvPr/>
        </p:nvCxnSpPr>
        <p:spPr>
          <a:xfrm>
            <a:off x="838200" y="86813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2149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E09B-5639-2F2F-8E80-690AAA143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F09EB-82F7-206D-BF5B-2FED2B2A27A7}"/>
              </a:ext>
            </a:extLst>
          </p:cNvPr>
          <p:cNvSpPr>
            <a:spLocks noGrp="1"/>
          </p:cNvSpPr>
          <p:nvPr>
            <p:ph type="title"/>
          </p:nvPr>
        </p:nvSpPr>
        <p:spPr>
          <a:xfrm>
            <a:off x="838200" y="193675"/>
            <a:ext cx="10458450" cy="758825"/>
          </a:xfrm>
        </p:spPr>
        <p:txBody>
          <a:bodyPr/>
          <a:lstStyle/>
          <a:p>
            <a:r>
              <a:rPr lang="en-US" dirty="0"/>
              <a:t>Project Submission</a:t>
            </a:r>
          </a:p>
        </p:txBody>
      </p:sp>
      <p:sp>
        <p:nvSpPr>
          <p:cNvPr id="4" name="Content Placeholder 3">
            <a:extLst>
              <a:ext uri="{FF2B5EF4-FFF2-40B4-BE49-F238E27FC236}">
                <a16:creationId xmlns:a16="http://schemas.microsoft.com/office/drawing/2014/main" id="{05972A58-6E18-4D2E-AE52-75488B061BA3}"/>
              </a:ext>
            </a:extLst>
          </p:cNvPr>
          <p:cNvSpPr>
            <a:spLocks noGrp="1"/>
          </p:cNvSpPr>
          <p:nvPr>
            <p:ph idx="1"/>
          </p:nvPr>
        </p:nvSpPr>
        <p:spPr>
          <a:xfrm>
            <a:off x="771524" y="952500"/>
            <a:ext cx="11096625" cy="5037364"/>
          </a:xfrm>
        </p:spPr>
        <p:txBody>
          <a:bodyPr>
            <a:normAutofit fontScale="32500" lnSpcReduction="20000"/>
          </a:bodyPr>
          <a:lstStyle/>
          <a:p>
            <a:pPr algn="l" fontAlgn="base">
              <a:lnSpc>
                <a:spcPct val="120000"/>
              </a:lnSpc>
              <a:spcBef>
                <a:spcPts val="0"/>
              </a:spcBef>
              <a:buFont typeface="Arial" panose="020B0604020202020204" pitchFamily="34" charset="0"/>
              <a:buChar char="•"/>
            </a:pPr>
            <a:r>
              <a:rPr lang="en-US" sz="6400" b="0" i="0" dirty="0">
                <a:solidFill>
                  <a:srgbClr val="000000"/>
                </a:solidFill>
                <a:effectLst/>
              </a:rPr>
              <a:t>Your team page listing should have the following:</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The team lead must list a mobile phone number on the teams AGA page (after judging is complete the number may be removed).</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All team members will be listed with brief biographies.</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Short abstract of the project.</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The development tools used to build the project.</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SDKs used in the project.</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APIs used in the project.</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Any assets used in the project.</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Any libraries used in the project.</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Any components not created at the </a:t>
            </a:r>
            <a:r>
              <a:rPr lang="en-US" sz="6400" dirty="0">
                <a:solidFill>
                  <a:srgbClr val="000000"/>
                </a:solidFill>
              </a:rPr>
              <a:t>D</a:t>
            </a:r>
            <a:r>
              <a:rPr lang="en-US" sz="6400" b="0" i="0" dirty="0">
                <a:solidFill>
                  <a:srgbClr val="000000"/>
                </a:solidFill>
                <a:effectLst/>
              </a:rPr>
              <a:t>atathon.</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A link to the team Github repository</a:t>
            </a:r>
          </a:p>
          <a:p>
            <a:pPr marL="742950" lvl="1" indent="-285750" algn="l" fontAlgn="base">
              <a:lnSpc>
                <a:spcPct val="120000"/>
              </a:lnSpc>
              <a:spcBef>
                <a:spcPts val="0"/>
              </a:spcBef>
              <a:buFont typeface="Arial" panose="020B0604020202020204" pitchFamily="34" charset="0"/>
              <a:buChar char="•"/>
            </a:pPr>
            <a:r>
              <a:rPr lang="en-US" sz="6400" b="0" i="0" dirty="0">
                <a:solidFill>
                  <a:srgbClr val="000000"/>
                </a:solidFill>
                <a:effectLst/>
              </a:rPr>
              <a:t>A link to a video of a screen capture of the application on YouTube.</a:t>
            </a:r>
          </a:p>
          <a:p>
            <a:pPr marL="0" indent="0" algn="l" fontAlgn="base">
              <a:buNone/>
            </a:pPr>
            <a:endParaRPr lang="en-US" dirty="0"/>
          </a:p>
        </p:txBody>
      </p:sp>
      <p:cxnSp>
        <p:nvCxnSpPr>
          <p:cNvPr id="3" name="Straight Connector 2">
            <a:extLst>
              <a:ext uri="{FF2B5EF4-FFF2-40B4-BE49-F238E27FC236}">
                <a16:creationId xmlns:a16="http://schemas.microsoft.com/office/drawing/2014/main" id="{1852970E-9D93-B265-119E-26D0EE935A70}"/>
              </a:ext>
            </a:extLst>
          </p:cNvPr>
          <p:cNvCxnSpPr/>
          <p:nvPr/>
        </p:nvCxnSpPr>
        <p:spPr>
          <a:xfrm>
            <a:off x="838200" y="86813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60002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CACE-9486-EF5C-7F1F-EFEC86ADA1FA}"/>
              </a:ext>
            </a:extLst>
          </p:cNvPr>
          <p:cNvSpPr>
            <a:spLocks noGrp="1"/>
          </p:cNvSpPr>
          <p:nvPr>
            <p:ph type="title"/>
          </p:nvPr>
        </p:nvSpPr>
        <p:spPr>
          <a:xfrm>
            <a:off x="838200" y="193675"/>
            <a:ext cx="10458450" cy="758825"/>
          </a:xfrm>
        </p:spPr>
        <p:txBody>
          <a:bodyPr/>
          <a:lstStyle/>
          <a:p>
            <a:r>
              <a:rPr lang="en-US" dirty="0"/>
              <a:t>Project Submission (cont’d)</a:t>
            </a:r>
          </a:p>
        </p:txBody>
      </p:sp>
      <p:sp>
        <p:nvSpPr>
          <p:cNvPr id="4" name="Content Placeholder 3">
            <a:extLst>
              <a:ext uri="{FF2B5EF4-FFF2-40B4-BE49-F238E27FC236}">
                <a16:creationId xmlns:a16="http://schemas.microsoft.com/office/drawing/2014/main" id="{A3A98AE2-9379-C655-454F-968598EAED95}"/>
              </a:ext>
            </a:extLst>
          </p:cNvPr>
          <p:cNvSpPr>
            <a:spLocks noGrp="1"/>
          </p:cNvSpPr>
          <p:nvPr>
            <p:ph idx="1"/>
          </p:nvPr>
        </p:nvSpPr>
        <p:spPr>
          <a:xfrm>
            <a:off x="771524" y="952500"/>
            <a:ext cx="11096625" cy="5037364"/>
          </a:xfrm>
        </p:spPr>
        <p:txBody>
          <a:bodyPr vert="horz" lIns="91440" tIns="45720" rIns="91440" bIns="45720" rtlCol="0" anchor="t">
            <a:normAutofit fontScale="32500" lnSpcReduction="20000"/>
          </a:bodyPr>
          <a:lstStyle/>
          <a:p>
            <a:pPr fontAlgn="base">
              <a:lnSpc>
                <a:spcPct val="120000"/>
              </a:lnSpc>
              <a:spcBef>
                <a:spcPts val="0"/>
              </a:spcBef>
            </a:pPr>
            <a:r>
              <a:rPr lang="en-US" sz="6400" b="0" i="0" dirty="0">
                <a:solidFill>
                  <a:srgbClr val="000000"/>
                </a:solidFill>
                <a:effectLst/>
                <a:latin typeface="Bierstadt Display"/>
              </a:rPr>
              <a:t>All projects should be submitted to the </a:t>
            </a:r>
            <a:r>
              <a:rPr lang="en-US" sz="6400" dirty="0" err="1">
                <a:solidFill>
                  <a:srgbClr val="000000"/>
                </a:solidFill>
                <a:latin typeface="Bierstadt Display"/>
              </a:rPr>
              <a:t>D</a:t>
            </a:r>
            <a:r>
              <a:rPr lang="en-US" sz="6400" b="0" i="0" dirty="0" err="1">
                <a:solidFill>
                  <a:srgbClr val="000000"/>
                </a:solidFill>
                <a:effectLst/>
                <a:latin typeface="Bierstadt Display"/>
              </a:rPr>
              <a:t>atathon</a:t>
            </a:r>
            <a:r>
              <a:rPr lang="en-US" sz="6400" b="0" i="0" dirty="0">
                <a:solidFill>
                  <a:srgbClr val="000000"/>
                </a:solidFill>
                <a:effectLst/>
                <a:latin typeface="Bierstadt Display"/>
              </a:rPr>
              <a:t> </a:t>
            </a:r>
            <a:r>
              <a:rPr lang="en-US" sz="6400" dirty="0">
                <a:solidFill>
                  <a:srgbClr val="FF0000"/>
                </a:solidFill>
                <a:latin typeface="Bierstadt Display"/>
              </a:rPr>
              <a:t>AGA-Datathon-2026</a:t>
            </a:r>
            <a:r>
              <a:rPr lang="en-US" sz="6400" b="0" i="0" dirty="0">
                <a:solidFill>
                  <a:srgbClr val="FF0000"/>
                </a:solidFill>
                <a:effectLst/>
                <a:latin typeface="Bierstadt Display"/>
              </a:rPr>
              <a:t> by </a:t>
            </a:r>
            <a:r>
              <a:rPr lang="en-US" sz="6400" dirty="0">
                <a:solidFill>
                  <a:srgbClr val="FF0000"/>
                </a:solidFill>
                <a:latin typeface="Bierstadt Display"/>
              </a:rPr>
              <a:t>11:59pm ET on</a:t>
            </a:r>
            <a:r>
              <a:rPr lang="en-US" sz="6400" b="0" i="0" dirty="0">
                <a:solidFill>
                  <a:srgbClr val="FF0000"/>
                </a:solidFill>
                <a:effectLst/>
                <a:latin typeface="Bierstadt Display"/>
              </a:rPr>
              <a:t> </a:t>
            </a:r>
            <a:r>
              <a:rPr lang="en-US" sz="6400" dirty="0">
                <a:solidFill>
                  <a:srgbClr val="FF0000"/>
                </a:solidFill>
                <a:latin typeface="Bierstadt Display"/>
              </a:rPr>
              <a:t>Sunday,  January 18th</a:t>
            </a:r>
            <a:r>
              <a:rPr lang="en-US" sz="6400" b="0" i="0" dirty="0">
                <a:solidFill>
                  <a:srgbClr val="000000"/>
                </a:solidFill>
                <a:effectLst/>
                <a:latin typeface="Bierstadt Display"/>
              </a:rPr>
              <a:t>. Failure to submit will result in disqualification. Teams should commit regularly throughout the </a:t>
            </a:r>
            <a:r>
              <a:rPr lang="en-US" sz="6400" dirty="0" err="1">
                <a:solidFill>
                  <a:srgbClr val="000000"/>
                </a:solidFill>
                <a:latin typeface="Bierstadt Display"/>
              </a:rPr>
              <a:t>D</a:t>
            </a:r>
            <a:r>
              <a:rPr lang="en-US" sz="6400" b="0" i="0" dirty="0" err="1">
                <a:solidFill>
                  <a:srgbClr val="000000"/>
                </a:solidFill>
                <a:effectLst/>
                <a:latin typeface="Bierstadt Display"/>
              </a:rPr>
              <a:t>atathon</a:t>
            </a:r>
            <a:r>
              <a:rPr lang="en-US" sz="6400" b="0" i="0" dirty="0">
                <a:solidFill>
                  <a:srgbClr val="000000"/>
                </a:solidFill>
                <a:effectLst/>
                <a:latin typeface="Bierstadt Display"/>
              </a:rPr>
              <a:t> to the team repository. A single GitHub commit made near the end of the </a:t>
            </a:r>
            <a:r>
              <a:rPr lang="en-US" sz="6400" dirty="0">
                <a:solidFill>
                  <a:srgbClr val="000000"/>
                </a:solidFill>
                <a:latin typeface="Bierstadt Display"/>
              </a:rPr>
              <a:t>D</a:t>
            </a:r>
            <a:r>
              <a:rPr lang="en-US" sz="6400" b="0" i="0" dirty="0">
                <a:solidFill>
                  <a:srgbClr val="000000"/>
                </a:solidFill>
                <a:effectLst/>
                <a:latin typeface="Bierstadt Display"/>
              </a:rPr>
              <a:t>atathon will draw the suspicion that the work was not completed at the Datathon.</a:t>
            </a:r>
          </a:p>
          <a:p>
            <a:pPr algn="l" fontAlgn="base">
              <a:lnSpc>
                <a:spcPct val="120000"/>
              </a:lnSpc>
              <a:spcBef>
                <a:spcPts val="0"/>
              </a:spcBef>
              <a:buFont typeface="Arial" panose="020B0604020202020204" pitchFamily="34" charset="0"/>
              <a:buChar char="•"/>
            </a:pPr>
            <a:r>
              <a:rPr lang="en-US" sz="6400" b="0" i="0" dirty="0">
                <a:solidFill>
                  <a:srgbClr val="000000"/>
                </a:solidFill>
                <a:effectLst/>
              </a:rPr>
              <a:t>All projects’ submissions will be randomly code-reviewed. Applications will be spot checked by code reviewers. All the projects selected by the judges as finalists will be code reviewed to confirm that the code is original work created at the </a:t>
            </a:r>
            <a:r>
              <a:rPr lang="en-US" sz="6400" dirty="0">
                <a:solidFill>
                  <a:srgbClr val="000000"/>
                </a:solidFill>
              </a:rPr>
              <a:t>D</a:t>
            </a:r>
            <a:r>
              <a:rPr lang="en-US" sz="6400" b="0" i="0" dirty="0">
                <a:solidFill>
                  <a:srgbClr val="000000"/>
                </a:solidFill>
                <a:effectLst/>
              </a:rPr>
              <a:t>atathon and all components and assets conform to the licenses allowed in these rules.</a:t>
            </a:r>
          </a:p>
          <a:p>
            <a:pPr algn="l" fontAlgn="base">
              <a:lnSpc>
                <a:spcPct val="120000"/>
              </a:lnSpc>
              <a:spcBef>
                <a:spcPts val="0"/>
              </a:spcBef>
              <a:buFont typeface="Arial" panose="020B0604020202020204" pitchFamily="34" charset="0"/>
              <a:buChar char="•"/>
            </a:pPr>
            <a:r>
              <a:rPr lang="en-US" sz="6400" b="0" i="0" dirty="0">
                <a:solidFill>
                  <a:srgbClr val="000000"/>
                </a:solidFill>
                <a:effectLst/>
              </a:rPr>
              <a:t>When development ends at least one member from each team will meet with the judging team for a brief review of their submission and to confirm that the team’s AGA page has been correctly updated.</a:t>
            </a:r>
          </a:p>
          <a:p>
            <a:pPr marL="0" indent="0" algn="l" fontAlgn="base">
              <a:buNone/>
            </a:pPr>
            <a:endParaRPr lang="en-US" dirty="0"/>
          </a:p>
        </p:txBody>
      </p:sp>
      <p:cxnSp>
        <p:nvCxnSpPr>
          <p:cNvPr id="3" name="Straight Connector 2">
            <a:extLst>
              <a:ext uri="{FF2B5EF4-FFF2-40B4-BE49-F238E27FC236}">
                <a16:creationId xmlns:a16="http://schemas.microsoft.com/office/drawing/2014/main" id="{459899E8-6FAC-AFE0-4EB7-5842CA040A83}"/>
              </a:ext>
            </a:extLst>
          </p:cNvPr>
          <p:cNvCxnSpPr/>
          <p:nvPr/>
        </p:nvCxnSpPr>
        <p:spPr>
          <a:xfrm>
            <a:off x="838200" y="868136"/>
            <a:ext cx="106070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22641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2FF40-46A9-C066-0D4B-1B77494EAD9F}"/>
              </a:ext>
            </a:extLst>
          </p:cNvPr>
          <p:cNvSpPr>
            <a:spLocks noGrp="1"/>
          </p:cNvSpPr>
          <p:nvPr>
            <p:ph type="ctrTitle"/>
          </p:nvPr>
        </p:nvSpPr>
        <p:spPr/>
        <p:txBody>
          <a:bodyPr>
            <a:normAutofit/>
          </a:bodyPr>
          <a:lstStyle/>
          <a:p>
            <a:r>
              <a:rPr lang="en-US" sz="7200" dirty="0"/>
              <a:t>Questions?</a:t>
            </a:r>
          </a:p>
        </p:txBody>
      </p:sp>
    </p:spTree>
    <p:extLst>
      <p:ext uri="{BB962C8B-B14F-4D97-AF65-F5344CB8AC3E}">
        <p14:creationId xmlns:p14="http://schemas.microsoft.com/office/powerpoint/2010/main" val="1059866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582B83588EA64994CC9B493995D4B2" ma:contentTypeVersion="19" ma:contentTypeDescription="Create a new document." ma:contentTypeScope="" ma:versionID="dcf7d79b921b6bf39d9561345a91c13c">
  <xsd:schema xmlns:xsd="http://www.w3.org/2001/XMLSchema" xmlns:xs="http://www.w3.org/2001/XMLSchema" xmlns:p="http://schemas.microsoft.com/office/2006/metadata/properties" xmlns:ns2="1bcc541c-a7da-4167-bb1c-7a107cbd8867" xmlns:ns3="3a91d148-500c-4af6-a2fa-06912cce903e" targetNamespace="http://schemas.microsoft.com/office/2006/metadata/properties" ma:root="true" ma:fieldsID="27b3e95702632170353ba906bdaa6a24" ns2:_="" ns3:_="">
    <xsd:import namespace="1bcc541c-a7da-4167-bb1c-7a107cbd8867"/>
    <xsd:import namespace="3a91d148-500c-4af6-a2fa-06912cce903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cc541c-a7da-4167-bb1c-7a107cbd88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a87db6f3-70db-408f-a1a6-f852f9717b94"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91d148-500c-4af6-a2fa-06912cce903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d2a9176-376e-44ab-b40a-28e97d1b0b30}" ma:internalName="TaxCatchAll" ma:showField="CatchAllData" ma:web="3a91d148-500c-4af6-a2fa-06912cce90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cc541c-a7da-4167-bb1c-7a107cbd8867">
      <Terms xmlns="http://schemas.microsoft.com/office/infopath/2007/PartnerControls"/>
    </lcf76f155ced4ddcb4097134ff3c332f>
    <TaxCatchAll xmlns="3a91d148-500c-4af6-a2fa-06912cce903e" xsi:nil="true"/>
  </documentManagement>
</p:properties>
</file>

<file path=customXml/itemProps1.xml><?xml version="1.0" encoding="utf-8"?>
<ds:datastoreItem xmlns:ds="http://schemas.openxmlformats.org/officeDocument/2006/customXml" ds:itemID="{D3B8A188-A41E-4F77-964A-637A93B5E3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cc541c-a7da-4167-bb1c-7a107cbd8867"/>
    <ds:schemaRef ds:uri="3a91d148-500c-4af6-a2fa-06912cce90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EB560A-3F68-4D2B-B7C2-C87F2D626159}">
  <ds:schemaRefs>
    <ds:schemaRef ds:uri="http://schemas.microsoft.com/sharepoint/v3/contenttype/forms"/>
  </ds:schemaRefs>
</ds:datastoreItem>
</file>

<file path=customXml/itemProps3.xml><?xml version="1.0" encoding="utf-8"?>
<ds:datastoreItem xmlns:ds="http://schemas.openxmlformats.org/officeDocument/2006/customXml" ds:itemID="{468E8392-F346-4C53-AEAA-697500D9F606}">
  <ds:schemaRefs>
    <ds:schemaRef ds:uri="http://schemas.microsoft.com/office/2006/metadata/properties"/>
    <ds:schemaRef ds:uri="http://schemas.microsoft.com/office/infopath/2007/PartnerControls"/>
    <ds:schemaRef ds:uri="1bcc541c-a7da-4167-bb1c-7a107cbd8867"/>
    <ds:schemaRef ds:uri="3a91d148-500c-4af6-a2fa-06912cce903e"/>
  </ds:schemaRefs>
</ds:datastoreItem>
</file>

<file path=docProps/app.xml><?xml version="1.0" encoding="utf-8"?>
<Properties xmlns="http://schemas.openxmlformats.org/officeDocument/2006/extended-properties" xmlns:vt="http://schemas.openxmlformats.org/officeDocument/2006/docPropsVTypes">
  <TotalTime>555</TotalTime>
  <Words>1572</Words>
  <Application>Microsoft Office PowerPoint</Application>
  <PresentationFormat>Widescreen</PresentationFormat>
  <Paragraphs>112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Welcome to AGA’s  2026 Datathon  December 2, 2025, Kick-Off</vt:lpstr>
      <vt:lpstr>Today’s Agenda</vt:lpstr>
      <vt:lpstr>Welcome and Introductions</vt:lpstr>
      <vt:lpstr>Welcome and Introductions</vt:lpstr>
      <vt:lpstr>Meet the Teams!</vt:lpstr>
      <vt:lpstr>Datathon Schedule</vt:lpstr>
      <vt:lpstr>Datathon Use Cases</vt:lpstr>
      <vt:lpstr>Github AGA-Datathon-2026</vt:lpstr>
      <vt:lpstr>Allowable Data Sources</vt:lpstr>
      <vt:lpstr>Project Development Rules</vt:lpstr>
      <vt:lpstr>Project Development Rules (cont’d)</vt:lpstr>
      <vt:lpstr>Project Submission</vt:lpstr>
      <vt:lpstr>Project Submission (cont’d)</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Lyndsay McKeown</dc:creator>
  <cp:lastModifiedBy>Susan Fritzlen</cp:lastModifiedBy>
  <cp:revision>87</cp:revision>
  <dcterms:created xsi:type="dcterms:W3CDTF">2023-10-12T14:46:47Z</dcterms:created>
  <dcterms:modified xsi:type="dcterms:W3CDTF">2025-12-02T13:50:04Z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0x01010093582B83588EA64994CC9B493995D4B2</vt:lpwstr>
  </property>
  <property fmtid="{D5CDD505-2E9C-101B-9397-08002B2CF9AE}" pid="3" name="MediaServiceImageTags">
    <vt:lpwstr/>
  </property>
</Properties>
</file>